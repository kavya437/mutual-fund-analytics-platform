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6858000" cy="9144000"/>
  <p:embeddedFontLst>
    <p:embeddedFont>
      <p:font typeface="Canva Sans" panose="020B0604020202020204" charset="0"/>
      <p:regular r:id="rId18"/>
    </p:embeddedFont>
    <p:embeddedFont>
      <p:font typeface="Montserrat Bold" panose="020B0604020202020204" charset="0"/>
      <p:regular r:id="rId19"/>
    </p:embeddedFont>
    <p:embeddedFont>
      <p:font typeface="Poppins" panose="00000500000000000000" pitchFamily="2" charset="0"/>
      <p:regular r:id="rId20"/>
    </p:embeddedFont>
    <p:embeddedFont>
      <p:font typeface="Poppins 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5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sv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7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A1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948693" y="1383612"/>
            <a:ext cx="6310607" cy="7200900"/>
          </a:xfrm>
          <a:custGeom>
            <a:avLst/>
            <a:gdLst/>
            <a:ahLst/>
            <a:cxnLst/>
            <a:rect l="l" t="t" r="r" b="b"/>
            <a:pathLst>
              <a:path w="6310607" h="7200900">
                <a:moveTo>
                  <a:pt x="0" y="0"/>
                </a:moveTo>
                <a:lnTo>
                  <a:pt x="6310607" y="0"/>
                </a:lnTo>
                <a:lnTo>
                  <a:pt x="6310607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7519831" y="-691855"/>
            <a:ext cx="1676063" cy="11497700"/>
            <a:chOff x="0" y="0"/>
            <a:chExt cx="441432" cy="302820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1432" cy="3028201"/>
            </a:xfrm>
            <a:custGeom>
              <a:avLst/>
              <a:gdLst/>
              <a:ahLst/>
              <a:cxnLst/>
              <a:rect l="l" t="t" r="r" b="b"/>
              <a:pathLst>
                <a:path w="441432" h="3028201">
                  <a:moveTo>
                    <a:pt x="0" y="0"/>
                  </a:moveTo>
                  <a:lnTo>
                    <a:pt x="441432" y="0"/>
                  </a:lnTo>
                  <a:lnTo>
                    <a:pt x="441432" y="3028201"/>
                  </a:lnTo>
                  <a:lnTo>
                    <a:pt x="0" y="3028201"/>
                  </a:ln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41432" cy="30663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028700" y="1028700"/>
            <a:ext cx="1211545" cy="1211545"/>
          </a:xfrm>
          <a:custGeom>
            <a:avLst/>
            <a:gdLst/>
            <a:ahLst/>
            <a:cxnLst/>
            <a:rect l="l" t="t" r="r" b="b"/>
            <a:pathLst>
              <a:path w="1211545" h="1211545">
                <a:moveTo>
                  <a:pt x="0" y="0"/>
                </a:moveTo>
                <a:lnTo>
                  <a:pt x="1211545" y="0"/>
                </a:lnTo>
                <a:lnTo>
                  <a:pt x="1211545" y="1211545"/>
                </a:lnTo>
                <a:lnTo>
                  <a:pt x="0" y="12115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28700" y="2552793"/>
            <a:ext cx="7471831" cy="3053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11"/>
              </a:lnSpc>
            </a:pPr>
            <a:r>
              <a:rPr lang="en-US" sz="7534" b="1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Mutual Fund Analytics Platform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483888" y="1137876"/>
            <a:ext cx="2280728" cy="916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4"/>
              </a:lnSpc>
              <a:spcBef>
                <a:spcPct val="0"/>
              </a:spcBef>
            </a:pPr>
            <a:r>
              <a:rPr lang="en-US" sz="2560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Bluestock Fintech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6244655"/>
            <a:ext cx="5896814" cy="3123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30"/>
              </a:lnSpc>
            </a:pPr>
            <a:r>
              <a:rPr lang="en-US" sz="2522" spc="284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Capstone Project Report</a:t>
            </a:r>
          </a:p>
          <a:p>
            <a:pPr algn="l">
              <a:lnSpc>
                <a:spcPts val="3530"/>
              </a:lnSpc>
            </a:pPr>
            <a:endParaRPr lang="en-US" sz="2522" spc="284">
              <a:solidFill>
                <a:srgbClr val="EFF1E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530"/>
              </a:lnSpc>
            </a:pPr>
            <a:r>
              <a:rPr lang="en-US" sz="2522" spc="284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Potnuru Kavya Rupini</a:t>
            </a:r>
          </a:p>
          <a:p>
            <a:pPr algn="l">
              <a:lnSpc>
                <a:spcPts val="3530"/>
              </a:lnSpc>
            </a:pPr>
            <a:endParaRPr lang="en-US" sz="2522" spc="284">
              <a:solidFill>
                <a:srgbClr val="EFF1E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530"/>
              </a:lnSpc>
            </a:pPr>
            <a:r>
              <a:rPr lang="en-US" sz="2522" spc="284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Bluestock Fintech Internship</a:t>
            </a:r>
          </a:p>
          <a:p>
            <a:pPr algn="l">
              <a:lnSpc>
                <a:spcPts val="3530"/>
              </a:lnSpc>
            </a:pPr>
            <a:endParaRPr lang="en-US" sz="2522" spc="284">
              <a:solidFill>
                <a:srgbClr val="EFF1E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530"/>
              </a:lnSpc>
              <a:spcBef>
                <a:spcPct val="0"/>
              </a:spcBef>
            </a:pPr>
            <a:r>
              <a:rPr lang="en-US" sz="2522" spc="284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945029" y="1194596"/>
            <a:ext cx="7314271" cy="6182391"/>
          </a:xfrm>
          <a:custGeom>
            <a:avLst/>
            <a:gdLst/>
            <a:ahLst/>
            <a:cxnLst/>
            <a:rect l="l" t="t" r="r" b="b"/>
            <a:pathLst>
              <a:path w="7314271" h="6182391">
                <a:moveTo>
                  <a:pt x="0" y="0"/>
                </a:moveTo>
                <a:lnTo>
                  <a:pt x="7314271" y="0"/>
                </a:lnTo>
                <a:lnTo>
                  <a:pt x="7314271" y="6182391"/>
                </a:lnTo>
                <a:lnTo>
                  <a:pt x="0" y="61823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104900"/>
            <a:ext cx="8115300" cy="2295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34"/>
              </a:lnSpc>
            </a:pPr>
            <a:r>
              <a:rPr lang="en-US" sz="8122" b="1">
                <a:solidFill>
                  <a:srgbClr val="3437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 Objective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836366"/>
            <a:ext cx="8115300" cy="5302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• Analyze mutual fund performance using return and risk metrics.</a:t>
            </a:r>
          </a:p>
          <a:p>
            <a:pPr algn="just">
              <a:lnSpc>
                <a:spcPts val="2800"/>
              </a:lnSpc>
            </a:pPr>
            <a:endParaRPr lang="en-US" sz="2000">
              <a:solidFill>
                <a:srgbClr val="34373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• Compare schemes using Sharpe Ratio, Sortino Ratio, Alpha and Beta.</a:t>
            </a:r>
          </a:p>
          <a:p>
            <a:pPr algn="just">
              <a:lnSpc>
                <a:spcPts val="2800"/>
              </a:lnSpc>
            </a:pPr>
            <a:endParaRPr lang="en-US" sz="2000">
              <a:solidFill>
                <a:srgbClr val="34373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• Study SIP growth trends and investor participation patterns.</a:t>
            </a:r>
          </a:p>
          <a:p>
            <a:pPr algn="just">
              <a:lnSpc>
                <a:spcPts val="2800"/>
              </a:lnSpc>
            </a:pPr>
            <a:endParaRPr lang="en-US" sz="2000">
              <a:solidFill>
                <a:srgbClr val="34373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• Perform advanced risk analysis using VaR and CVaR.</a:t>
            </a:r>
          </a:p>
          <a:p>
            <a:pPr algn="just">
              <a:lnSpc>
                <a:spcPts val="2800"/>
              </a:lnSpc>
            </a:pPr>
            <a:endParaRPr lang="en-US" sz="2000">
              <a:solidFill>
                <a:srgbClr val="34373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• Conduct investor cohort and SIP continuity analysis.</a:t>
            </a:r>
          </a:p>
          <a:p>
            <a:pPr algn="just">
              <a:lnSpc>
                <a:spcPts val="2800"/>
              </a:lnSpc>
            </a:pPr>
            <a:endParaRPr lang="en-US" sz="2000">
              <a:solidFill>
                <a:srgbClr val="34373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• Build an interactive Power BI dashboard.</a:t>
            </a:r>
          </a:p>
          <a:p>
            <a:pPr algn="just">
              <a:lnSpc>
                <a:spcPts val="2800"/>
              </a:lnSpc>
            </a:pPr>
            <a:endParaRPr lang="en-US" sz="2000">
              <a:solidFill>
                <a:srgbClr val="34373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• Develop a simple fund recommendation engine.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A1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123950"/>
            <a:ext cx="9346453" cy="2473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79"/>
              </a:lnSpc>
            </a:pPr>
            <a:r>
              <a:rPr lang="en-US" sz="8799" b="1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Dataset Overview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47333" y="2666771"/>
            <a:ext cx="8249939" cy="4877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13"/>
              </a:lnSpc>
            </a:pPr>
            <a:r>
              <a:rPr lang="en-US" sz="250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The project integrates multiple mutual fund datasets covering</a:t>
            </a:r>
          </a:p>
          <a:p>
            <a:pPr algn="just">
              <a:lnSpc>
                <a:spcPts val="3513"/>
              </a:lnSpc>
            </a:pPr>
            <a:r>
              <a:rPr lang="en-US" sz="250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fund details, NAV history, SIP inflows, industry statistics,</a:t>
            </a:r>
          </a:p>
          <a:p>
            <a:pPr algn="just">
              <a:lnSpc>
                <a:spcPts val="3513"/>
              </a:lnSpc>
            </a:pPr>
            <a:r>
              <a:rPr lang="en-US" sz="250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scheme performance, investor transactions, portfolio holdings,</a:t>
            </a:r>
          </a:p>
          <a:p>
            <a:pPr algn="just">
              <a:lnSpc>
                <a:spcPts val="3513"/>
              </a:lnSpc>
            </a:pPr>
            <a:r>
              <a:rPr lang="en-US" sz="250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and benchmark indices.</a:t>
            </a:r>
          </a:p>
          <a:p>
            <a:pPr algn="just">
              <a:lnSpc>
                <a:spcPts val="3513"/>
              </a:lnSpc>
            </a:pPr>
            <a:endParaRPr lang="en-US" sz="2509">
              <a:solidFill>
                <a:srgbClr val="EFF1E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513"/>
              </a:lnSpc>
            </a:pPr>
            <a:r>
              <a:rPr lang="en-US" sz="250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The datasets were cleaned, standardized, and loaded into</a:t>
            </a:r>
          </a:p>
          <a:p>
            <a:pPr algn="just">
              <a:lnSpc>
                <a:spcPts val="3513"/>
              </a:lnSpc>
              <a:spcBef>
                <a:spcPct val="0"/>
              </a:spcBef>
            </a:pPr>
            <a:r>
              <a:rPr lang="en-US" sz="250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SQLite for analysis and dashboard development.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94061" y="4381043"/>
            <a:ext cx="8249939" cy="4435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13"/>
              </a:lnSpc>
            </a:pPr>
            <a:r>
              <a:rPr lang="en-US" sz="250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Datasets Used</a:t>
            </a:r>
          </a:p>
          <a:p>
            <a:pPr algn="just">
              <a:lnSpc>
                <a:spcPts val="3513"/>
              </a:lnSpc>
            </a:pPr>
            <a:endParaRPr lang="en-US" sz="2509">
              <a:solidFill>
                <a:srgbClr val="EFF1E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513"/>
              </a:lnSpc>
            </a:pPr>
            <a:r>
              <a:rPr lang="en-US" sz="250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• Fund Master</a:t>
            </a:r>
          </a:p>
          <a:p>
            <a:pPr algn="just">
              <a:lnSpc>
                <a:spcPts val="3513"/>
              </a:lnSpc>
            </a:pPr>
            <a:r>
              <a:rPr lang="en-US" sz="250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• NAV History</a:t>
            </a:r>
          </a:p>
          <a:p>
            <a:pPr algn="just">
              <a:lnSpc>
                <a:spcPts val="3513"/>
              </a:lnSpc>
            </a:pPr>
            <a:r>
              <a:rPr lang="en-US" sz="250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• SIP Inflows</a:t>
            </a:r>
          </a:p>
          <a:p>
            <a:pPr algn="just">
              <a:lnSpc>
                <a:spcPts val="3513"/>
              </a:lnSpc>
            </a:pPr>
            <a:r>
              <a:rPr lang="en-US" sz="250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• Category Inflows</a:t>
            </a:r>
          </a:p>
          <a:p>
            <a:pPr algn="just">
              <a:lnSpc>
                <a:spcPts val="3513"/>
              </a:lnSpc>
            </a:pPr>
            <a:r>
              <a:rPr lang="en-US" sz="250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• Scheme Performance</a:t>
            </a:r>
          </a:p>
          <a:p>
            <a:pPr algn="just">
              <a:lnSpc>
                <a:spcPts val="3513"/>
              </a:lnSpc>
            </a:pPr>
            <a:r>
              <a:rPr lang="en-US" sz="250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• Investor Transactions</a:t>
            </a:r>
          </a:p>
          <a:p>
            <a:pPr algn="just">
              <a:lnSpc>
                <a:spcPts val="3513"/>
              </a:lnSpc>
            </a:pPr>
            <a:r>
              <a:rPr lang="en-US" sz="250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• Portfolio Holdings</a:t>
            </a:r>
          </a:p>
          <a:p>
            <a:pPr algn="just">
              <a:lnSpc>
                <a:spcPts val="3513"/>
              </a:lnSpc>
              <a:spcBef>
                <a:spcPct val="0"/>
              </a:spcBef>
            </a:pPr>
            <a:r>
              <a:rPr lang="en-US" sz="250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• Benchmark Indices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1223" y="471976"/>
            <a:ext cx="14845554" cy="1199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78"/>
              </a:lnSpc>
            </a:pPr>
            <a:r>
              <a:rPr lang="en-US" sz="8435" b="1">
                <a:solidFill>
                  <a:srgbClr val="3437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 Workflow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916630" y="1961144"/>
            <a:ext cx="10454740" cy="7506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23"/>
              </a:lnSpc>
            </a:pPr>
            <a:r>
              <a:rPr lang="en-US" sz="2659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Data Sources</a:t>
            </a:r>
          </a:p>
          <a:p>
            <a:pPr algn="just">
              <a:lnSpc>
                <a:spcPts val="3723"/>
              </a:lnSpc>
            </a:pPr>
            <a:r>
              <a:rPr lang="en-US" sz="2659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↓</a:t>
            </a:r>
          </a:p>
          <a:p>
            <a:pPr algn="just">
              <a:lnSpc>
                <a:spcPts val="3723"/>
              </a:lnSpc>
            </a:pPr>
            <a:r>
              <a:rPr lang="en-US" sz="2659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Data Ingestion</a:t>
            </a:r>
          </a:p>
          <a:p>
            <a:pPr algn="just">
              <a:lnSpc>
                <a:spcPts val="3723"/>
              </a:lnSpc>
            </a:pPr>
            <a:r>
              <a:rPr lang="en-US" sz="2659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↓</a:t>
            </a:r>
          </a:p>
          <a:p>
            <a:pPr algn="just">
              <a:lnSpc>
                <a:spcPts val="3723"/>
              </a:lnSpc>
            </a:pPr>
            <a:r>
              <a:rPr lang="en-US" sz="2659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Data Cleaning &amp; Preprocessing</a:t>
            </a:r>
          </a:p>
          <a:p>
            <a:pPr algn="just">
              <a:lnSpc>
                <a:spcPts val="3723"/>
              </a:lnSpc>
            </a:pPr>
            <a:r>
              <a:rPr lang="en-US" sz="2659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↓</a:t>
            </a:r>
          </a:p>
          <a:p>
            <a:pPr algn="just">
              <a:lnSpc>
                <a:spcPts val="3723"/>
              </a:lnSpc>
            </a:pPr>
            <a:r>
              <a:rPr lang="en-US" sz="2659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SQLite Database</a:t>
            </a:r>
          </a:p>
          <a:p>
            <a:pPr algn="just">
              <a:lnSpc>
                <a:spcPts val="3723"/>
              </a:lnSpc>
            </a:pPr>
            <a:r>
              <a:rPr lang="en-US" sz="2659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↓</a:t>
            </a:r>
          </a:p>
          <a:p>
            <a:pPr algn="just">
              <a:lnSpc>
                <a:spcPts val="3723"/>
              </a:lnSpc>
            </a:pPr>
            <a:r>
              <a:rPr lang="en-US" sz="2659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EDA &amp; Performance Analytics</a:t>
            </a:r>
          </a:p>
          <a:p>
            <a:pPr algn="just">
              <a:lnSpc>
                <a:spcPts val="3723"/>
              </a:lnSpc>
            </a:pPr>
            <a:r>
              <a:rPr lang="en-US" sz="2659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↓</a:t>
            </a:r>
          </a:p>
          <a:p>
            <a:pPr algn="just">
              <a:lnSpc>
                <a:spcPts val="3723"/>
              </a:lnSpc>
            </a:pPr>
            <a:r>
              <a:rPr lang="en-US" sz="2659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Advanced Analytics</a:t>
            </a:r>
          </a:p>
          <a:p>
            <a:pPr algn="just">
              <a:lnSpc>
                <a:spcPts val="3723"/>
              </a:lnSpc>
            </a:pPr>
            <a:r>
              <a:rPr lang="en-US" sz="2659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(VaR, CVaR, Cohort Analysis, SIP Analysis)</a:t>
            </a:r>
          </a:p>
          <a:p>
            <a:pPr algn="just">
              <a:lnSpc>
                <a:spcPts val="3723"/>
              </a:lnSpc>
            </a:pPr>
            <a:r>
              <a:rPr lang="en-US" sz="2659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↓</a:t>
            </a:r>
          </a:p>
          <a:p>
            <a:pPr algn="just">
              <a:lnSpc>
                <a:spcPts val="3723"/>
              </a:lnSpc>
            </a:pPr>
            <a:r>
              <a:rPr lang="en-US" sz="2659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Recommendation Engine</a:t>
            </a:r>
          </a:p>
          <a:p>
            <a:pPr algn="just">
              <a:lnSpc>
                <a:spcPts val="3723"/>
              </a:lnSpc>
            </a:pPr>
            <a:r>
              <a:rPr lang="en-US" sz="2659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↓</a:t>
            </a:r>
          </a:p>
          <a:p>
            <a:pPr algn="just">
              <a:lnSpc>
                <a:spcPts val="3723"/>
              </a:lnSpc>
              <a:spcBef>
                <a:spcPct val="0"/>
              </a:spcBef>
            </a:pPr>
            <a:r>
              <a:rPr lang="en-US" sz="2659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Power BI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A1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7632485" y="2184318"/>
            <a:ext cx="3674879" cy="4890639"/>
            <a:chOff x="0" y="0"/>
            <a:chExt cx="35509200" cy="47256700"/>
          </a:xfrm>
        </p:grpSpPr>
        <p:sp>
          <p:nvSpPr>
            <p:cNvPr id="3" name="Freeform 3"/>
            <p:cNvSpPr/>
            <p:nvPr/>
          </p:nvSpPr>
          <p:spPr>
            <a:xfrm>
              <a:off x="730072" y="926960"/>
              <a:ext cx="34046999" cy="45665287"/>
            </a:xfrm>
            <a:custGeom>
              <a:avLst/>
              <a:gdLst/>
              <a:ahLst/>
              <a:cxnLst/>
              <a:rect l="l" t="t" r="r" b="b"/>
              <a:pathLst>
                <a:path w="34046999" h="45665287">
                  <a:moveTo>
                    <a:pt x="0" y="0"/>
                  </a:moveTo>
                  <a:lnTo>
                    <a:pt x="34046999" y="0"/>
                  </a:lnTo>
                  <a:lnTo>
                    <a:pt x="34046999" y="45665288"/>
                  </a:lnTo>
                  <a:lnTo>
                    <a:pt x="0" y="45665288"/>
                  </a:lnTo>
                  <a:close/>
                </a:path>
              </a:pathLst>
            </a:custGeom>
            <a:blipFill>
              <a:blip r:embed="rId2"/>
              <a:stretch>
                <a:fillRect l="-17062" r="-17062"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35497948" cy="47249296"/>
            </a:xfrm>
            <a:custGeom>
              <a:avLst/>
              <a:gdLst/>
              <a:ahLst/>
              <a:cxnLst/>
              <a:rect l="l" t="t" r="r" b="b"/>
              <a:pathLst>
                <a:path w="35497948" h="47249296">
                  <a:moveTo>
                    <a:pt x="0" y="0"/>
                  </a:moveTo>
                  <a:lnTo>
                    <a:pt x="35497948" y="0"/>
                  </a:lnTo>
                  <a:lnTo>
                    <a:pt x="35497948" y="47249296"/>
                  </a:lnTo>
                  <a:lnTo>
                    <a:pt x="0" y="47249296"/>
                  </a:lnTo>
                  <a:close/>
                </a:path>
              </a:pathLst>
            </a:custGeom>
            <a:blipFill>
              <a:blip r:embed="rId3"/>
              <a:stretch>
                <a:fillRect t="-25" b="-25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3446298" y="571500"/>
            <a:ext cx="11395404" cy="1041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04"/>
              </a:lnSpc>
            </a:pPr>
            <a:r>
              <a:rPr lang="en-US" sz="7276" b="1" dirty="0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EDA Highlights</a:t>
            </a:r>
          </a:p>
        </p:txBody>
      </p: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2955804" y="2115553"/>
            <a:ext cx="3674879" cy="4890639"/>
            <a:chOff x="0" y="0"/>
            <a:chExt cx="35509200" cy="47256700"/>
          </a:xfrm>
        </p:grpSpPr>
        <p:sp>
          <p:nvSpPr>
            <p:cNvPr id="7" name="Freeform 7"/>
            <p:cNvSpPr/>
            <p:nvPr/>
          </p:nvSpPr>
          <p:spPr>
            <a:xfrm>
              <a:off x="730072" y="926960"/>
              <a:ext cx="34046999" cy="45665287"/>
            </a:xfrm>
            <a:custGeom>
              <a:avLst/>
              <a:gdLst/>
              <a:ahLst/>
              <a:cxnLst/>
              <a:rect l="l" t="t" r="r" b="b"/>
              <a:pathLst>
                <a:path w="34046999" h="45665287">
                  <a:moveTo>
                    <a:pt x="0" y="0"/>
                  </a:moveTo>
                  <a:lnTo>
                    <a:pt x="34046999" y="0"/>
                  </a:lnTo>
                  <a:lnTo>
                    <a:pt x="34046999" y="45665288"/>
                  </a:lnTo>
                  <a:lnTo>
                    <a:pt x="0" y="45665288"/>
                  </a:lnTo>
                  <a:close/>
                </a:path>
              </a:pathLst>
            </a:custGeom>
            <a:blipFill>
              <a:blip r:embed="rId4"/>
              <a:stretch>
                <a:fillRect l="-17062" r="-17062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0" y="0"/>
              <a:ext cx="35497948" cy="47249296"/>
            </a:xfrm>
            <a:custGeom>
              <a:avLst/>
              <a:gdLst/>
              <a:ahLst/>
              <a:cxnLst/>
              <a:rect l="l" t="t" r="r" b="b"/>
              <a:pathLst>
                <a:path w="35497948" h="47249296">
                  <a:moveTo>
                    <a:pt x="0" y="0"/>
                  </a:moveTo>
                  <a:lnTo>
                    <a:pt x="35497948" y="0"/>
                  </a:lnTo>
                  <a:lnTo>
                    <a:pt x="35497948" y="47249296"/>
                  </a:lnTo>
                  <a:lnTo>
                    <a:pt x="0" y="47249296"/>
                  </a:lnTo>
                  <a:close/>
                </a:path>
              </a:pathLst>
            </a:custGeom>
            <a:blipFill>
              <a:blip r:embed="rId3"/>
              <a:stretch>
                <a:fillRect t="-25" b="-25"/>
              </a:stretch>
            </a:blipFill>
          </p:spPr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2309166" y="2253083"/>
            <a:ext cx="3674879" cy="4890639"/>
            <a:chOff x="0" y="0"/>
            <a:chExt cx="35509200" cy="47256700"/>
          </a:xfrm>
        </p:grpSpPr>
        <p:sp>
          <p:nvSpPr>
            <p:cNvPr id="10" name="Freeform 10"/>
            <p:cNvSpPr/>
            <p:nvPr/>
          </p:nvSpPr>
          <p:spPr>
            <a:xfrm>
              <a:off x="730072" y="926960"/>
              <a:ext cx="34046999" cy="45665287"/>
            </a:xfrm>
            <a:custGeom>
              <a:avLst/>
              <a:gdLst/>
              <a:ahLst/>
              <a:cxnLst/>
              <a:rect l="l" t="t" r="r" b="b"/>
              <a:pathLst>
                <a:path w="34046999" h="45665287">
                  <a:moveTo>
                    <a:pt x="0" y="0"/>
                  </a:moveTo>
                  <a:lnTo>
                    <a:pt x="34046999" y="0"/>
                  </a:lnTo>
                  <a:lnTo>
                    <a:pt x="34046999" y="45665288"/>
                  </a:lnTo>
                  <a:lnTo>
                    <a:pt x="0" y="45665288"/>
                  </a:lnTo>
                  <a:close/>
                </a:path>
              </a:pathLst>
            </a:custGeom>
            <a:blipFill>
              <a:blip r:embed="rId5"/>
              <a:stretch>
                <a:fillRect l="-17062" r="-17062"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0" y="0"/>
              <a:ext cx="35497948" cy="47249296"/>
            </a:xfrm>
            <a:custGeom>
              <a:avLst/>
              <a:gdLst/>
              <a:ahLst/>
              <a:cxnLst/>
              <a:rect l="l" t="t" r="r" b="b"/>
              <a:pathLst>
                <a:path w="35497948" h="47249296">
                  <a:moveTo>
                    <a:pt x="0" y="0"/>
                  </a:moveTo>
                  <a:lnTo>
                    <a:pt x="35497948" y="0"/>
                  </a:lnTo>
                  <a:lnTo>
                    <a:pt x="35497948" y="47249296"/>
                  </a:lnTo>
                  <a:lnTo>
                    <a:pt x="0" y="47249296"/>
                  </a:lnTo>
                  <a:close/>
                </a:path>
              </a:pathLst>
            </a:custGeom>
            <a:blipFill>
              <a:blip r:embed="rId3"/>
              <a:stretch>
                <a:fillRect t="-25" b="-25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124069" y="7576495"/>
            <a:ext cx="16039862" cy="1780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EFF1E8"/>
                </a:solidFill>
                <a:latin typeface="Canva Sans"/>
                <a:ea typeface="Canva Sans"/>
                <a:cs typeface="Canva Sans"/>
                <a:sym typeface="Canva Sans"/>
              </a:rPr>
              <a:t>• Majority of investors belong to the 25–45 age group.</a:t>
            </a:r>
          </a:p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EFF1E8"/>
                </a:solidFill>
                <a:latin typeface="Canva Sans"/>
                <a:ea typeface="Canva Sans"/>
                <a:cs typeface="Canva Sans"/>
                <a:sym typeface="Canva Sans"/>
              </a:rPr>
              <a:t>• Male investors account for approximately two-thirds of participation.</a:t>
            </a:r>
          </a:p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EFF1E8"/>
                </a:solidFill>
                <a:latin typeface="Canva Sans"/>
                <a:ea typeface="Canva Sans"/>
                <a:cs typeface="Canva Sans"/>
                <a:sym typeface="Canva Sans"/>
              </a:rPr>
              <a:t>• T30 cities contribute a significantly larger share of investors than B30 cities.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493290" y="4865060"/>
            <a:ext cx="3804517" cy="5594879"/>
          </a:xfrm>
          <a:custGeom>
            <a:avLst/>
            <a:gdLst/>
            <a:ahLst/>
            <a:cxnLst/>
            <a:rect l="l" t="t" r="r" b="b"/>
            <a:pathLst>
              <a:path w="3804517" h="5594879">
                <a:moveTo>
                  <a:pt x="3804517" y="0"/>
                </a:moveTo>
                <a:lnTo>
                  <a:pt x="0" y="0"/>
                </a:lnTo>
                <a:lnTo>
                  <a:pt x="0" y="5594879"/>
                </a:lnTo>
                <a:lnTo>
                  <a:pt x="3804517" y="5594879"/>
                </a:lnTo>
                <a:lnTo>
                  <a:pt x="380451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371297" y="2829834"/>
            <a:ext cx="5784092" cy="3470455"/>
            <a:chOff x="0" y="0"/>
            <a:chExt cx="6350000" cy="381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50000" cy="3810000"/>
            </a:xfrm>
            <a:custGeom>
              <a:avLst/>
              <a:gdLst/>
              <a:ahLst/>
              <a:cxnLst/>
              <a:rect l="l" t="t" r="r" b="b"/>
              <a:pathLst>
                <a:path w="6350000" h="3810000">
                  <a:moveTo>
                    <a:pt x="0" y="3175000"/>
                  </a:moveTo>
                  <a:lnTo>
                    <a:pt x="0" y="635000"/>
                  </a:lnTo>
                  <a:cubicBezTo>
                    <a:pt x="0" y="284480"/>
                    <a:pt x="284480" y="0"/>
                    <a:pt x="635000" y="0"/>
                  </a:cubicBezTo>
                  <a:lnTo>
                    <a:pt x="5715000" y="0"/>
                  </a:lnTo>
                  <a:cubicBezTo>
                    <a:pt x="6065520" y="0"/>
                    <a:pt x="6350000" y="284480"/>
                    <a:pt x="6350000" y="635000"/>
                  </a:cubicBezTo>
                  <a:lnTo>
                    <a:pt x="6350000" y="3175000"/>
                  </a:lnTo>
                  <a:cubicBezTo>
                    <a:pt x="6350000" y="3525520"/>
                    <a:pt x="6065520" y="3810000"/>
                    <a:pt x="5715000" y="3810000"/>
                  </a:cubicBezTo>
                  <a:lnTo>
                    <a:pt x="635000" y="3810000"/>
                  </a:lnTo>
                  <a:cubicBezTo>
                    <a:pt x="284480" y="3810000"/>
                    <a:pt x="0" y="3525520"/>
                    <a:pt x="0" y="3175000"/>
                  </a:cubicBezTo>
                  <a:close/>
                </a:path>
              </a:pathLst>
            </a:custGeom>
            <a:blipFill>
              <a:blip r:embed="rId3"/>
              <a:stretch>
                <a:fillRect l="-10000" r="-10000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0" y="0"/>
              <a:ext cx="6350000" cy="3810000"/>
            </a:xfrm>
            <a:custGeom>
              <a:avLst/>
              <a:gdLst/>
              <a:ahLst/>
              <a:cxnLst/>
              <a:rect l="l" t="t" r="r" b="b"/>
              <a:pathLst>
                <a:path w="6350000" h="3810000">
                  <a:moveTo>
                    <a:pt x="5715000" y="19050"/>
                  </a:moveTo>
                  <a:cubicBezTo>
                    <a:pt x="6054090" y="19050"/>
                    <a:pt x="6330950" y="295910"/>
                    <a:pt x="6330950" y="635000"/>
                  </a:cubicBezTo>
                  <a:lnTo>
                    <a:pt x="6330950" y="3175000"/>
                  </a:lnTo>
                  <a:cubicBezTo>
                    <a:pt x="6330950" y="3514090"/>
                    <a:pt x="6054090" y="3790950"/>
                    <a:pt x="5715000" y="3790950"/>
                  </a:cubicBezTo>
                  <a:lnTo>
                    <a:pt x="635000" y="3790950"/>
                  </a:lnTo>
                  <a:cubicBezTo>
                    <a:pt x="295910" y="3790950"/>
                    <a:pt x="19050" y="3514090"/>
                    <a:pt x="19050" y="3175000"/>
                  </a:cubicBezTo>
                  <a:lnTo>
                    <a:pt x="19050" y="635000"/>
                  </a:lnTo>
                  <a:cubicBezTo>
                    <a:pt x="19050" y="295910"/>
                    <a:pt x="295910" y="19050"/>
                    <a:pt x="635000" y="19050"/>
                  </a:cubicBezTo>
                  <a:lnTo>
                    <a:pt x="5715000" y="19050"/>
                  </a:lnTo>
                  <a:moveTo>
                    <a:pt x="5715000" y="0"/>
                  </a:moveTo>
                  <a:lnTo>
                    <a:pt x="635000" y="0"/>
                  </a:lnTo>
                  <a:cubicBezTo>
                    <a:pt x="284480" y="0"/>
                    <a:pt x="0" y="284480"/>
                    <a:pt x="0" y="635000"/>
                  </a:cubicBezTo>
                  <a:lnTo>
                    <a:pt x="0" y="3175000"/>
                  </a:lnTo>
                  <a:cubicBezTo>
                    <a:pt x="0" y="3525520"/>
                    <a:pt x="284480" y="3810000"/>
                    <a:pt x="635000" y="3810000"/>
                  </a:cubicBezTo>
                  <a:lnTo>
                    <a:pt x="5715000" y="3810000"/>
                  </a:lnTo>
                  <a:cubicBezTo>
                    <a:pt x="6065520" y="3810000"/>
                    <a:pt x="6350000" y="3525520"/>
                    <a:pt x="6350000" y="3175000"/>
                  </a:cubicBezTo>
                  <a:lnTo>
                    <a:pt x="6350000" y="635000"/>
                  </a:lnTo>
                  <a:cubicBezTo>
                    <a:pt x="6350000" y="284480"/>
                    <a:pt x="6065520" y="0"/>
                    <a:pt x="5715000" y="0"/>
                  </a:cubicBezTo>
                  <a:lnTo>
                    <a:pt x="5715000" y="0"/>
                  </a:lnTo>
                  <a:close/>
                </a:path>
              </a:pathLst>
            </a:custGeom>
            <a:solidFill>
              <a:srgbClr val="343734"/>
            </a:solidFill>
          </p:spPr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6155389" y="2829834"/>
            <a:ext cx="5784092" cy="3470455"/>
            <a:chOff x="0" y="0"/>
            <a:chExt cx="6350000" cy="3810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350000" cy="3810000"/>
            </a:xfrm>
            <a:custGeom>
              <a:avLst/>
              <a:gdLst/>
              <a:ahLst/>
              <a:cxnLst/>
              <a:rect l="l" t="t" r="r" b="b"/>
              <a:pathLst>
                <a:path w="6350000" h="3810000">
                  <a:moveTo>
                    <a:pt x="0" y="3175000"/>
                  </a:moveTo>
                  <a:lnTo>
                    <a:pt x="0" y="635000"/>
                  </a:lnTo>
                  <a:cubicBezTo>
                    <a:pt x="0" y="284480"/>
                    <a:pt x="284480" y="0"/>
                    <a:pt x="635000" y="0"/>
                  </a:cubicBezTo>
                  <a:lnTo>
                    <a:pt x="5715000" y="0"/>
                  </a:lnTo>
                  <a:cubicBezTo>
                    <a:pt x="6065520" y="0"/>
                    <a:pt x="6350000" y="284480"/>
                    <a:pt x="6350000" y="635000"/>
                  </a:cubicBezTo>
                  <a:lnTo>
                    <a:pt x="6350000" y="3175000"/>
                  </a:lnTo>
                  <a:cubicBezTo>
                    <a:pt x="6350000" y="3525520"/>
                    <a:pt x="6065520" y="3810000"/>
                    <a:pt x="5715000" y="3810000"/>
                  </a:cubicBezTo>
                  <a:lnTo>
                    <a:pt x="635000" y="3810000"/>
                  </a:lnTo>
                  <a:cubicBezTo>
                    <a:pt x="284480" y="3810000"/>
                    <a:pt x="0" y="3525520"/>
                    <a:pt x="0" y="3175000"/>
                  </a:cubicBezTo>
                  <a:close/>
                </a:path>
              </a:pathLst>
            </a:custGeom>
            <a:blipFill>
              <a:blip r:embed="rId4"/>
              <a:stretch>
                <a:fillRect l="-10000" r="-10000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0" y="0"/>
              <a:ext cx="6350000" cy="3810000"/>
            </a:xfrm>
            <a:custGeom>
              <a:avLst/>
              <a:gdLst/>
              <a:ahLst/>
              <a:cxnLst/>
              <a:rect l="l" t="t" r="r" b="b"/>
              <a:pathLst>
                <a:path w="6350000" h="3810000">
                  <a:moveTo>
                    <a:pt x="5715000" y="19050"/>
                  </a:moveTo>
                  <a:cubicBezTo>
                    <a:pt x="6054090" y="19050"/>
                    <a:pt x="6330950" y="295910"/>
                    <a:pt x="6330950" y="635000"/>
                  </a:cubicBezTo>
                  <a:lnTo>
                    <a:pt x="6330950" y="3175000"/>
                  </a:lnTo>
                  <a:cubicBezTo>
                    <a:pt x="6330950" y="3514090"/>
                    <a:pt x="6054090" y="3790950"/>
                    <a:pt x="5715000" y="3790950"/>
                  </a:cubicBezTo>
                  <a:lnTo>
                    <a:pt x="635000" y="3790950"/>
                  </a:lnTo>
                  <a:cubicBezTo>
                    <a:pt x="295910" y="3790950"/>
                    <a:pt x="19050" y="3514090"/>
                    <a:pt x="19050" y="3175000"/>
                  </a:cubicBezTo>
                  <a:lnTo>
                    <a:pt x="19050" y="635000"/>
                  </a:lnTo>
                  <a:cubicBezTo>
                    <a:pt x="19050" y="295910"/>
                    <a:pt x="295910" y="19050"/>
                    <a:pt x="635000" y="19050"/>
                  </a:cubicBezTo>
                  <a:lnTo>
                    <a:pt x="5715000" y="19050"/>
                  </a:lnTo>
                  <a:moveTo>
                    <a:pt x="5715000" y="0"/>
                  </a:moveTo>
                  <a:lnTo>
                    <a:pt x="635000" y="0"/>
                  </a:lnTo>
                  <a:cubicBezTo>
                    <a:pt x="284480" y="0"/>
                    <a:pt x="0" y="284480"/>
                    <a:pt x="0" y="635000"/>
                  </a:cubicBezTo>
                  <a:lnTo>
                    <a:pt x="0" y="3175000"/>
                  </a:lnTo>
                  <a:cubicBezTo>
                    <a:pt x="0" y="3525520"/>
                    <a:pt x="284480" y="3810000"/>
                    <a:pt x="635000" y="3810000"/>
                  </a:cubicBezTo>
                  <a:lnTo>
                    <a:pt x="5715000" y="3810000"/>
                  </a:lnTo>
                  <a:cubicBezTo>
                    <a:pt x="6065520" y="3810000"/>
                    <a:pt x="6350000" y="3525520"/>
                    <a:pt x="6350000" y="3175000"/>
                  </a:cubicBezTo>
                  <a:lnTo>
                    <a:pt x="6350000" y="635000"/>
                  </a:lnTo>
                  <a:cubicBezTo>
                    <a:pt x="6350000" y="284480"/>
                    <a:pt x="6065520" y="0"/>
                    <a:pt x="5715000" y="0"/>
                  </a:cubicBezTo>
                  <a:lnTo>
                    <a:pt x="5715000" y="0"/>
                  </a:lnTo>
                  <a:close/>
                </a:path>
              </a:pathLst>
            </a:custGeom>
            <a:solidFill>
              <a:srgbClr val="343734"/>
            </a:solidFill>
          </p:spPr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11939482" y="2829834"/>
            <a:ext cx="5784092" cy="3470455"/>
            <a:chOff x="0" y="0"/>
            <a:chExt cx="6350000" cy="3810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350000" cy="3810000"/>
            </a:xfrm>
            <a:custGeom>
              <a:avLst/>
              <a:gdLst/>
              <a:ahLst/>
              <a:cxnLst/>
              <a:rect l="l" t="t" r="r" b="b"/>
              <a:pathLst>
                <a:path w="6350000" h="3810000">
                  <a:moveTo>
                    <a:pt x="0" y="3175000"/>
                  </a:moveTo>
                  <a:lnTo>
                    <a:pt x="0" y="635000"/>
                  </a:lnTo>
                  <a:cubicBezTo>
                    <a:pt x="0" y="284480"/>
                    <a:pt x="284480" y="0"/>
                    <a:pt x="635000" y="0"/>
                  </a:cubicBezTo>
                  <a:lnTo>
                    <a:pt x="5715000" y="0"/>
                  </a:lnTo>
                  <a:cubicBezTo>
                    <a:pt x="6065520" y="0"/>
                    <a:pt x="6350000" y="284480"/>
                    <a:pt x="6350000" y="635000"/>
                  </a:cubicBezTo>
                  <a:lnTo>
                    <a:pt x="6350000" y="3175000"/>
                  </a:lnTo>
                  <a:cubicBezTo>
                    <a:pt x="6350000" y="3525520"/>
                    <a:pt x="6065520" y="3810000"/>
                    <a:pt x="5715000" y="3810000"/>
                  </a:cubicBezTo>
                  <a:lnTo>
                    <a:pt x="635000" y="3810000"/>
                  </a:lnTo>
                  <a:cubicBezTo>
                    <a:pt x="284480" y="3810000"/>
                    <a:pt x="0" y="3525520"/>
                    <a:pt x="0" y="3175000"/>
                  </a:cubicBezTo>
                  <a:close/>
                </a:path>
              </a:pathLst>
            </a:custGeom>
            <a:blipFill>
              <a:blip r:embed="rId5"/>
              <a:stretch>
                <a:fillRect l="-9999" r="-9999"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0" y="0"/>
              <a:ext cx="6350000" cy="3810000"/>
            </a:xfrm>
            <a:custGeom>
              <a:avLst/>
              <a:gdLst/>
              <a:ahLst/>
              <a:cxnLst/>
              <a:rect l="l" t="t" r="r" b="b"/>
              <a:pathLst>
                <a:path w="6350000" h="3810000">
                  <a:moveTo>
                    <a:pt x="5715000" y="19050"/>
                  </a:moveTo>
                  <a:cubicBezTo>
                    <a:pt x="6054090" y="19050"/>
                    <a:pt x="6330950" y="295910"/>
                    <a:pt x="6330950" y="635000"/>
                  </a:cubicBezTo>
                  <a:lnTo>
                    <a:pt x="6330950" y="3175000"/>
                  </a:lnTo>
                  <a:cubicBezTo>
                    <a:pt x="6330950" y="3514090"/>
                    <a:pt x="6054090" y="3790950"/>
                    <a:pt x="5715000" y="3790950"/>
                  </a:cubicBezTo>
                  <a:lnTo>
                    <a:pt x="635000" y="3790950"/>
                  </a:lnTo>
                  <a:cubicBezTo>
                    <a:pt x="295910" y="3790950"/>
                    <a:pt x="19050" y="3514090"/>
                    <a:pt x="19050" y="3175000"/>
                  </a:cubicBezTo>
                  <a:lnTo>
                    <a:pt x="19050" y="635000"/>
                  </a:lnTo>
                  <a:cubicBezTo>
                    <a:pt x="19050" y="295910"/>
                    <a:pt x="295910" y="19050"/>
                    <a:pt x="635000" y="19050"/>
                  </a:cubicBezTo>
                  <a:lnTo>
                    <a:pt x="5715000" y="19050"/>
                  </a:lnTo>
                  <a:moveTo>
                    <a:pt x="5715000" y="0"/>
                  </a:moveTo>
                  <a:lnTo>
                    <a:pt x="635000" y="0"/>
                  </a:lnTo>
                  <a:cubicBezTo>
                    <a:pt x="284480" y="0"/>
                    <a:pt x="0" y="284480"/>
                    <a:pt x="0" y="635000"/>
                  </a:cubicBezTo>
                  <a:lnTo>
                    <a:pt x="0" y="3175000"/>
                  </a:lnTo>
                  <a:cubicBezTo>
                    <a:pt x="0" y="3525520"/>
                    <a:pt x="284480" y="3810000"/>
                    <a:pt x="635000" y="3810000"/>
                  </a:cubicBezTo>
                  <a:lnTo>
                    <a:pt x="5715000" y="3810000"/>
                  </a:lnTo>
                  <a:cubicBezTo>
                    <a:pt x="6065520" y="3810000"/>
                    <a:pt x="6350000" y="3525520"/>
                    <a:pt x="6350000" y="3175000"/>
                  </a:cubicBezTo>
                  <a:lnTo>
                    <a:pt x="6350000" y="635000"/>
                  </a:lnTo>
                  <a:cubicBezTo>
                    <a:pt x="6350000" y="284480"/>
                    <a:pt x="6065520" y="0"/>
                    <a:pt x="5715000" y="0"/>
                  </a:cubicBezTo>
                  <a:lnTo>
                    <a:pt x="5715000" y="0"/>
                  </a:lnTo>
                  <a:close/>
                </a:path>
              </a:pathLst>
            </a:custGeom>
            <a:solidFill>
              <a:srgbClr val="343734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2579218" y="1095375"/>
            <a:ext cx="13129564" cy="991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43"/>
              </a:lnSpc>
            </a:pPr>
            <a:r>
              <a:rPr lang="en-US" sz="6948" b="1">
                <a:solidFill>
                  <a:srgbClr val="3437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EDA Highlights (Continued)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72143" y="7063695"/>
            <a:ext cx="15951431" cy="1483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87"/>
              </a:lnSpc>
            </a:pPr>
            <a:r>
              <a:rPr lang="en-US" sz="2848">
                <a:solidFill>
                  <a:srgbClr val="343734"/>
                </a:solidFill>
                <a:latin typeface="Canva Sans"/>
                <a:ea typeface="Canva Sans"/>
                <a:cs typeface="Canva Sans"/>
                <a:sym typeface="Canva Sans"/>
              </a:rPr>
              <a:t>• SIP inflows show a consistent upward trend over time.</a:t>
            </a:r>
          </a:p>
          <a:p>
            <a:pPr algn="just">
              <a:lnSpc>
                <a:spcPts val="3987"/>
              </a:lnSpc>
            </a:pPr>
            <a:r>
              <a:rPr lang="en-US" sz="2848">
                <a:solidFill>
                  <a:srgbClr val="343734"/>
                </a:solidFill>
                <a:latin typeface="Canva Sans"/>
                <a:ea typeface="Canva Sans"/>
                <a:cs typeface="Canva Sans"/>
                <a:sym typeface="Canva Sans"/>
              </a:rPr>
              <a:t>• Industry folio counts indicate increasing investor participation.</a:t>
            </a:r>
          </a:p>
          <a:p>
            <a:pPr algn="just">
              <a:lnSpc>
                <a:spcPts val="3987"/>
              </a:lnSpc>
            </a:pPr>
            <a:r>
              <a:rPr lang="en-US" sz="2848">
                <a:solidFill>
                  <a:srgbClr val="343734"/>
                </a:solidFill>
                <a:latin typeface="Canva Sans"/>
                <a:ea typeface="Canva Sans"/>
                <a:cs typeface="Canva Sans"/>
                <a:sym typeface="Canva Sans"/>
              </a:rPr>
              <a:t>• Category inflow analysis highlights varying investment preferences across fund categories.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A1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00104" y="2268465"/>
            <a:ext cx="5606652" cy="4069305"/>
            <a:chOff x="0" y="0"/>
            <a:chExt cx="2899410" cy="2104390"/>
          </a:xfrm>
        </p:grpSpPr>
        <p:sp>
          <p:nvSpPr>
            <p:cNvPr id="3" name="Freeform 3"/>
            <p:cNvSpPr/>
            <p:nvPr/>
          </p:nvSpPr>
          <p:spPr>
            <a:xfrm>
              <a:off x="15036" y="-267"/>
              <a:ext cx="2899923" cy="2106424"/>
            </a:xfrm>
            <a:custGeom>
              <a:avLst/>
              <a:gdLst/>
              <a:ahLst/>
              <a:cxnLst/>
              <a:rect l="l" t="t" r="r" b="b"/>
              <a:pathLst>
                <a:path w="2899923" h="2106424">
                  <a:moveTo>
                    <a:pt x="2880564" y="799097"/>
                  </a:moveTo>
                  <a:cubicBezTo>
                    <a:pt x="2879294" y="623837"/>
                    <a:pt x="2869134" y="411747"/>
                    <a:pt x="2869134" y="221247"/>
                  </a:cubicBezTo>
                  <a:cubicBezTo>
                    <a:pt x="2869134" y="169177"/>
                    <a:pt x="2867864" y="65037"/>
                    <a:pt x="2861514" y="12967"/>
                  </a:cubicBezTo>
                  <a:cubicBezTo>
                    <a:pt x="2709114" y="12967"/>
                    <a:pt x="2545284" y="267"/>
                    <a:pt x="2391614" y="267"/>
                  </a:cubicBezTo>
                  <a:cubicBezTo>
                    <a:pt x="1592784" y="2807"/>
                    <a:pt x="801574" y="-1003"/>
                    <a:pt x="4014" y="267"/>
                  </a:cubicBezTo>
                  <a:cubicBezTo>
                    <a:pt x="4014" y="170447"/>
                    <a:pt x="-1066" y="359677"/>
                    <a:pt x="204" y="529857"/>
                  </a:cubicBezTo>
                  <a:cubicBezTo>
                    <a:pt x="2744" y="847357"/>
                    <a:pt x="6554" y="1166127"/>
                    <a:pt x="6554" y="1483627"/>
                  </a:cubicBezTo>
                  <a:cubicBezTo>
                    <a:pt x="6554" y="1637297"/>
                    <a:pt x="5284" y="1789697"/>
                    <a:pt x="12904" y="1943367"/>
                  </a:cubicBezTo>
                  <a:cubicBezTo>
                    <a:pt x="15444" y="1992897"/>
                    <a:pt x="17984" y="2041157"/>
                    <a:pt x="23064" y="2090687"/>
                  </a:cubicBezTo>
                  <a:cubicBezTo>
                    <a:pt x="190704" y="2093227"/>
                    <a:pt x="357074" y="2097037"/>
                    <a:pt x="524714" y="2102117"/>
                  </a:cubicBezTo>
                  <a:cubicBezTo>
                    <a:pt x="970484" y="2114817"/>
                    <a:pt x="1403554" y="2094497"/>
                    <a:pt x="1863294" y="2103387"/>
                  </a:cubicBezTo>
                  <a:cubicBezTo>
                    <a:pt x="2210004" y="2109737"/>
                    <a:pt x="2550364" y="2090687"/>
                    <a:pt x="2897074" y="2090687"/>
                  </a:cubicBezTo>
                  <a:cubicBezTo>
                    <a:pt x="2897074" y="2074177"/>
                    <a:pt x="2898344" y="1977657"/>
                    <a:pt x="2899614" y="1961147"/>
                  </a:cubicBezTo>
                  <a:cubicBezTo>
                    <a:pt x="2902154" y="1862087"/>
                    <a:pt x="2888184" y="1676667"/>
                    <a:pt x="2889454" y="1577607"/>
                  </a:cubicBezTo>
                  <a:cubicBezTo>
                    <a:pt x="2895804" y="1169937"/>
                    <a:pt x="2883104" y="1150887"/>
                    <a:pt x="2880564" y="799097"/>
                  </a:cubicBezTo>
                  <a:close/>
                </a:path>
              </a:pathLst>
            </a:custGeom>
            <a:blipFill>
              <a:blip r:embed="rId2"/>
              <a:stretch>
                <a:fillRect l="-10531" r="-10531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1050717" y="1085850"/>
            <a:ext cx="16208583" cy="941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8"/>
              </a:lnSpc>
            </a:pPr>
            <a:r>
              <a:rPr lang="en-US" sz="6552" b="1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Fund Performance Analytics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366934" y="2268465"/>
            <a:ext cx="5606652" cy="4069305"/>
            <a:chOff x="0" y="0"/>
            <a:chExt cx="2899410" cy="2104390"/>
          </a:xfrm>
        </p:grpSpPr>
        <p:sp>
          <p:nvSpPr>
            <p:cNvPr id="6" name="Freeform 6"/>
            <p:cNvSpPr/>
            <p:nvPr/>
          </p:nvSpPr>
          <p:spPr>
            <a:xfrm>
              <a:off x="15036" y="-267"/>
              <a:ext cx="2899923" cy="2106424"/>
            </a:xfrm>
            <a:custGeom>
              <a:avLst/>
              <a:gdLst/>
              <a:ahLst/>
              <a:cxnLst/>
              <a:rect l="l" t="t" r="r" b="b"/>
              <a:pathLst>
                <a:path w="2899923" h="2106424">
                  <a:moveTo>
                    <a:pt x="2880564" y="799097"/>
                  </a:moveTo>
                  <a:cubicBezTo>
                    <a:pt x="2879294" y="623837"/>
                    <a:pt x="2869134" y="411747"/>
                    <a:pt x="2869134" y="221247"/>
                  </a:cubicBezTo>
                  <a:cubicBezTo>
                    <a:pt x="2869134" y="169177"/>
                    <a:pt x="2867864" y="65037"/>
                    <a:pt x="2861514" y="12967"/>
                  </a:cubicBezTo>
                  <a:cubicBezTo>
                    <a:pt x="2709114" y="12967"/>
                    <a:pt x="2545284" y="267"/>
                    <a:pt x="2391614" y="267"/>
                  </a:cubicBezTo>
                  <a:cubicBezTo>
                    <a:pt x="1592784" y="2807"/>
                    <a:pt x="801574" y="-1003"/>
                    <a:pt x="4014" y="267"/>
                  </a:cubicBezTo>
                  <a:cubicBezTo>
                    <a:pt x="4014" y="170447"/>
                    <a:pt x="-1066" y="359677"/>
                    <a:pt x="204" y="529857"/>
                  </a:cubicBezTo>
                  <a:cubicBezTo>
                    <a:pt x="2744" y="847357"/>
                    <a:pt x="6554" y="1166127"/>
                    <a:pt x="6554" y="1483627"/>
                  </a:cubicBezTo>
                  <a:cubicBezTo>
                    <a:pt x="6554" y="1637297"/>
                    <a:pt x="5284" y="1789697"/>
                    <a:pt x="12904" y="1943367"/>
                  </a:cubicBezTo>
                  <a:cubicBezTo>
                    <a:pt x="15444" y="1992897"/>
                    <a:pt x="17984" y="2041157"/>
                    <a:pt x="23064" y="2090687"/>
                  </a:cubicBezTo>
                  <a:cubicBezTo>
                    <a:pt x="190704" y="2093227"/>
                    <a:pt x="357074" y="2097037"/>
                    <a:pt x="524714" y="2102117"/>
                  </a:cubicBezTo>
                  <a:cubicBezTo>
                    <a:pt x="970484" y="2114817"/>
                    <a:pt x="1403554" y="2094497"/>
                    <a:pt x="1863294" y="2103387"/>
                  </a:cubicBezTo>
                  <a:cubicBezTo>
                    <a:pt x="2210004" y="2109737"/>
                    <a:pt x="2550364" y="2090687"/>
                    <a:pt x="2897074" y="2090687"/>
                  </a:cubicBezTo>
                  <a:cubicBezTo>
                    <a:pt x="2897074" y="2074177"/>
                    <a:pt x="2898344" y="1977657"/>
                    <a:pt x="2899614" y="1961147"/>
                  </a:cubicBezTo>
                  <a:cubicBezTo>
                    <a:pt x="2902154" y="1862087"/>
                    <a:pt x="2888184" y="1676667"/>
                    <a:pt x="2889454" y="1577607"/>
                  </a:cubicBezTo>
                  <a:cubicBezTo>
                    <a:pt x="2895804" y="1169937"/>
                    <a:pt x="2883104" y="1150887"/>
                    <a:pt x="2880564" y="799097"/>
                  </a:cubicBezTo>
                  <a:close/>
                </a:path>
              </a:pathLst>
            </a:custGeom>
            <a:blipFill>
              <a:blip r:embed="rId3"/>
              <a:stretch>
                <a:fillRect l="-10531" r="-10531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2333765" y="2268465"/>
            <a:ext cx="5606652" cy="4069305"/>
            <a:chOff x="0" y="0"/>
            <a:chExt cx="2899410" cy="2104390"/>
          </a:xfrm>
        </p:grpSpPr>
        <p:sp>
          <p:nvSpPr>
            <p:cNvPr id="8" name="Freeform 8"/>
            <p:cNvSpPr/>
            <p:nvPr/>
          </p:nvSpPr>
          <p:spPr>
            <a:xfrm>
              <a:off x="15036" y="-267"/>
              <a:ext cx="2899923" cy="2106424"/>
            </a:xfrm>
            <a:custGeom>
              <a:avLst/>
              <a:gdLst/>
              <a:ahLst/>
              <a:cxnLst/>
              <a:rect l="l" t="t" r="r" b="b"/>
              <a:pathLst>
                <a:path w="2899923" h="2106424">
                  <a:moveTo>
                    <a:pt x="2880564" y="799097"/>
                  </a:moveTo>
                  <a:cubicBezTo>
                    <a:pt x="2879294" y="623837"/>
                    <a:pt x="2869134" y="411747"/>
                    <a:pt x="2869134" y="221247"/>
                  </a:cubicBezTo>
                  <a:cubicBezTo>
                    <a:pt x="2869134" y="169177"/>
                    <a:pt x="2867864" y="65037"/>
                    <a:pt x="2861514" y="12967"/>
                  </a:cubicBezTo>
                  <a:cubicBezTo>
                    <a:pt x="2709114" y="12967"/>
                    <a:pt x="2545284" y="267"/>
                    <a:pt x="2391614" y="267"/>
                  </a:cubicBezTo>
                  <a:cubicBezTo>
                    <a:pt x="1592784" y="2807"/>
                    <a:pt x="801574" y="-1003"/>
                    <a:pt x="4014" y="267"/>
                  </a:cubicBezTo>
                  <a:cubicBezTo>
                    <a:pt x="4014" y="170447"/>
                    <a:pt x="-1066" y="359677"/>
                    <a:pt x="204" y="529857"/>
                  </a:cubicBezTo>
                  <a:cubicBezTo>
                    <a:pt x="2744" y="847357"/>
                    <a:pt x="6554" y="1166127"/>
                    <a:pt x="6554" y="1483627"/>
                  </a:cubicBezTo>
                  <a:cubicBezTo>
                    <a:pt x="6554" y="1637297"/>
                    <a:pt x="5284" y="1789697"/>
                    <a:pt x="12904" y="1943367"/>
                  </a:cubicBezTo>
                  <a:cubicBezTo>
                    <a:pt x="15444" y="1992897"/>
                    <a:pt x="17984" y="2041157"/>
                    <a:pt x="23064" y="2090687"/>
                  </a:cubicBezTo>
                  <a:cubicBezTo>
                    <a:pt x="190704" y="2093227"/>
                    <a:pt x="357074" y="2097037"/>
                    <a:pt x="524714" y="2102117"/>
                  </a:cubicBezTo>
                  <a:cubicBezTo>
                    <a:pt x="970484" y="2114817"/>
                    <a:pt x="1403554" y="2094497"/>
                    <a:pt x="1863294" y="2103387"/>
                  </a:cubicBezTo>
                  <a:cubicBezTo>
                    <a:pt x="2210004" y="2109737"/>
                    <a:pt x="2550364" y="2090687"/>
                    <a:pt x="2897074" y="2090687"/>
                  </a:cubicBezTo>
                  <a:cubicBezTo>
                    <a:pt x="2897074" y="2074177"/>
                    <a:pt x="2898344" y="1977657"/>
                    <a:pt x="2899614" y="1961147"/>
                  </a:cubicBezTo>
                  <a:cubicBezTo>
                    <a:pt x="2902154" y="1862087"/>
                    <a:pt x="2888184" y="1676667"/>
                    <a:pt x="2889454" y="1577607"/>
                  </a:cubicBezTo>
                  <a:cubicBezTo>
                    <a:pt x="2895804" y="1169937"/>
                    <a:pt x="2883104" y="1150887"/>
                    <a:pt x="2880564" y="799097"/>
                  </a:cubicBezTo>
                  <a:close/>
                </a:path>
              </a:pathLst>
            </a:custGeom>
            <a:blipFill>
              <a:blip r:embed="rId4"/>
              <a:stretch>
                <a:fillRect l="-957" r="-957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400104" y="6750819"/>
            <a:ext cx="17541955" cy="1753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99"/>
              </a:lnSpc>
            </a:pPr>
            <a:r>
              <a:rPr lang="en-US" sz="3356">
                <a:solidFill>
                  <a:srgbClr val="EFF1E8"/>
                </a:solidFill>
                <a:latin typeface="Canva Sans"/>
                <a:ea typeface="Canva Sans"/>
                <a:cs typeface="Canva Sans"/>
                <a:sym typeface="Canva Sans"/>
              </a:rPr>
              <a:t>• Top-performing funds generated significantly higher returns than category averages.</a:t>
            </a:r>
          </a:p>
          <a:p>
            <a:pPr algn="l">
              <a:lnSpc>
                <a:spcPts val="4699"/>
              </a:lnSpc>
            </a:pPr>
            <a:r>
              <a:rPr lang="en-US" sz="3356">
                <a:solidFill>
                  <a:srgbClr val="EFF1E8"/>
                </a:solidFill>
                <a:latin typeface="Canva Sans"/>
                <a:ea typeface="Canva Sans"/>
                <a:cs typeface="Canva Sans"/>
                <a:sym typeface="Canva Sans"/>
              </a:rPr>
              <a:t>• AUM distribution indicates concentration among a few large mutual fund schemes.</a:t>
            </a:r>
          </a:p>
          <a:p>
            <a:pPr algn="l">
              <a:lnSpc>
                <a:spcPts val="4699"/>
              </a:lnSpc>
            </a:pPr>
            <a:r>
              <a:rPr lang="en-US" sz="3356">
                <a:solidFill>
                  <a:srgbClr val="EFF1E8"/>
                </a:solidFill>
                <a:latin typeface="Canva Sans"/>
                <a:ea typeface="Canva Sans"/>
                <a:cs typeface="Canva Sans"/>
                <a:sym typeface="Canva Sans"/>
              </a:rPr>
              <a:t>• Most schemes fall within the 3–4 star Morningstar rating range.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1682" y="2268465"/>
            <a:ext cx="5603693" cy="4067157"/>
            <a:chOff x="0" y="0"/>
            <a:chExt cx="2899410" cy="2104390"/>
          </a:xfrm>
        </p:grpSpPr>
        <p:sp>
          <p:nvSpPr>
            <p:cNvPr id="3" name="Freeform 3"/>
            <p:cNvSpPr/>
            <p:nvPr/>
          </p:nvSpPr>
          <p:spPr>
            <a:xfrm>
              <a:off x="15036" y="-267"/>
              <a:ext cx="2899923" cy="2106424"/>
            </a:xfrm>
            <a:custGeom>
              <a:avLst/>
              <a:gdLst/>
              <a:ahLst/>
              <a:cxnLst/>
              <a:rect l="l" t="t" r="r" b="b"/>
              <a:pathLst>
                <a:path w="2899923" h="2106424">
                  <a:moveTo>
                    <a:pt x="2880564" y="799097"/>
                  </a:moveTo>
                  <a:cubicBezTo>
                    <a:pt x="2879294" y="623837"/>
                    <a:pt x="2869134" y="411747"/>
                    <a:pt x="2869134" y="221247"/>
                  </a:cubicBezTo>
                  <a:cubicBezTo>
                    <a:pt x="2869134" y="169177"/>
                    <a:pt x="2867864" y="65037"/>
                    <a:pt x="2861514" y="12967"/>
                  </a:cubicBezTo>
                  <a:cubicBezTo>
                    <a:pt x="2709114" y="12967"/>
                    <a:pt x="2545284" y="267"/>
                    <a:pt x="2391614" y="267"/>
                  </a:cubicBezTo>
                  <a:cubicBezTo>
                    <a:pt x="1592784" y="2807"/>
                    <a:pt x="801574" y="-1003"/>
                    <a:pt x="4014" y="267"/>
                  </a:cubicBezTo>
                  <a:cubicBezTo>
                    <a:pt x="4014" y="170447"/>
                    <a:pt x="-1066" y="359677"/>
                    <a:pt x="204" y="529857"/>
                  </a:cubicBezTo>
                  <a:cubicBezTo>
                    <a:pt x="2744" y="847357"/>
                    <a:pt x="6554" y="1166127"/>
                    <a:pt x="6554" y="1483627"/>
                  </a:cubicBezTo>
                  <a:cubicBezTo>
                    <a:pt x="6554" y="1637297"/>
                    <a:pt x="5284" y="1789697"/>
                    <a:pt x="12904" y="1943367"/>
                  </a:cubicBezTo>
                  <a:cubicBezTo>
                    <a:pt x="15444" y="1992897"/>
                    <a:pt x="17984" y="2041157"/>
                    <a:pt x="23064" y="2090687"/>
                  </a:cubicBezTo>
                  <a:cubicBezTo>
                    <a:pt x="190704" y="2093227"/>
                    <a:pt x="357074" y="2097037"/>
                    <a:pt x="524714" y="2102117"/>
                  </a:cubicBezTo>
                  <a:cubicBezTo>
                    <a:pt x="970484" y="2114817"/>
                    <a:pt x="1403554" y="2094497"/>
                    <a:pt x="1863294" y="2103387"/>
                  </a:cubicBezTo>
                  <a:cubicBezTo>
                    <a:pt x="2210004" y="2109737"/>
                    <a:pt x="2550364" y="2090687"/>
                    <a:pt x="2897074" y="2090687"/>
                  </a:cubicBezTo>
                  <a:cubicBezTo>
                    <a:pt x="2897074" y="2074177"/>
                    <a:pt x="2898344" y="1977657"/>
                    <a:pt x="2899614" y="1961147"/>
                  </a:cubicBezTo>
                  <a:cubicBezTo>
                    <a:pt x="2902154" y="1862087"/>
                    <a:pt x="2888184" y="1676667"/>
                    <a:pt x="2889454" y="1577607"/>
                  </a:cubicBezTo>
                  <a:cubicBezTo>
                    <a:pt x="2895804" y="1169937"/>
                    <a:pt x="2883104" y="1150887"/>
                    <a:pt x="2880564" y="799097"/>
                  </a:cubicBezTo>
                  <a:close/>
                </a:path>
              </a:pathLst>
            </a:custGeom>
            <a:blipFill>
              <a:blip r:embed="rId2"/>
              <a:stretch>
                <a:fillRect t="-1626" b="-1626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542687" y="2268465"/>
            <a:ext cx="5603693" cy="4067157"/>
            <a:chOff x="0" y="0"/>
            <a:chExt cx="2899410" cy="2104390"/>
          </a:xfrm>
        </p:grpSpPr>
        <p:sp>
          <p:nvSpPr>
            <p:cNvPr id="5" name="Freeform 5"/>
            <p:cNvSpPr/>
            <p:nvPr/>
          </p:nvSpPr>
          <p:spPr>
            <a:xfrm>
              <a:off x="15036" y="-267"/>
              <a:ext cx="2899923" cy="2106424"/>
            </a:xfrm>
            <a:custGeom>
              <a:avLst/>
              <a:gdLst/>
              <a:ahLst/>
              <a:cxnLst/>
              <a:rect l="l" t="t" r="r" b="b"/>
              <a:pathLst>
                <a:path w="2899923" h="2106424">
                  <a:moveTo>
                    <a:pt x="2880564" y="799097"/>
                  </a:moveTo>
                  <a:cubicBezTo>
                    <a:pt x="2879294" y="623837"/>
                    <a:pt x="2869134" y="411747"/>
                    <a:pt x="2869134" y="221247"/>
                  </a:cubicBezTo>
                  <a:cubicBezTo>
                    <a:pt x="2869134" y="169177"/>
                    <a:pt x="2867864" y="65037"/>
                    <a:pt x="2861514" y="12967"/>
                  </a:cubicBezTo>
                  <a:cubicBezTo>
                    <a:pt x="2709114" y="12967"/>
                    <a:pt x="2545284" y="267"/>
                    <a:pt x="2391614" y="267"/>
                  </a:cubicBezTo>
                  <a:cubicBezTo>
                    <a:pt x="1592784" y="2807"/>
                    <a:pt x="801574" y="-1003"/>
                    <a:pt x="4014" y="267"/>
                  </a:cubicBezTo>
                  <a:cubicBezTo>
                    <a:pt x="4014" y="170447"/>
                    <a:pt x="-1066" y="359677"/>
                    <a:pt x="204" y="529857"/>
                  </a:cubicBezTo>
                  <a:cubicBezTo>
                    <a:pt x="2744" y="847357"/>
                    <a:pt x="6554" y="1166127"/>
                    <a:pt x="6554" y="1483627"/>
                  </a:cubicBezTo>
                  <a:cubicBezTo>
                    <a:pt x="6554" y="1637297"/>
                    <a:pt x="5284" y="1789697"/>
                    <a:pt x="12904" y="1943367"/>
                  </a:cubicBezTo>
                  <a:cubicBezTo>
                    <a:pt x="15444" y="1992897"/>
                    <a:pt x="17984" y="2041157"/>
                    <a:pt x="23064" y="2090687"/>
                  </a:cubicBezTo>
                  <a:cubicBezTo>
                    <a:pt x="190704" y="2093227"/>
                    <a:pt x="357074" y="2097037"/>
                    <a:pt x="524714" y="2102117"/>
                  </a:cubicBezTo>
                  <a:cubicBezTo>
                    <a:pt x="970484" y="2114817"/>
                    <a:pt x="1403554" y="2094497"/>
                    <a:pt x="1863294" y="2103387"/>
                  </a:cubicBezTo>
                  <a:cubicBezTo>
                    <a:pt x="2210004" y="2109737"/>
                    <a:pt x="2550364" y="2090687"/>
                    <a:pt x="2897074" y="2090687"/>
                  </a:cubicBezTo>
                  <a:cubicBezTo>
                    <a:pt x="2897074" y="2074177"/>
                    <a:pt x="2898344" y="1977657"/>
                    <a:pt x="2899614" y="1961147"/>
                  </a:cubicBezTo>
                  <a:cubicBezTo>
                    <a:pt x="2902154" y="1862087"/>
                    <a:pt x="2888184" y="1676667"/>
                    <a:pt x="2889454" y="1577607"/>
                  </a:cubicBezTo>
                  <a:cubicBezTo>
                    <a:pt x="2895804" y="1169937"/>
                    <a:pt x="2883104" y="1150887"/>
                    <a:pt x="2880564" y="799097"/>
                  </a:cubicBezTo>
                  <a:close/>
                </a:path>
              </a:pathLst>
            </a:custGeom>
            <a:blipFill>
              <a:blip r:embed="rId3"/>
              <a:stretch>
                <a:fillRect l="-8236" r="-8236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2403692" y="2268465"/>
            <a:ext cx="5603693" cy="4067157"/>
            <a:chOff x="0" y="0"/>
            <a:chExt cx="2899410" cy="2104390"/>
          </a:xfrm>
        </p:grpSpPr>
        <p:sp>
          <p:nvSpPr>
            <p:cNvPr id="7" name="Freeform 7"/>
            <p:cNvSpPr/>
            <p:nvPr/>
          </p:nvSpPr>
          <p:spPr>
            <a:xfrm>
              <a:off x="15036" y="-267"/>
              <a:ext cx="2899923" cy="2106424"/>
            </a:xfrm>
            <a:custGeom>
              <a:avLst/>
              <a:gdLst/>
              <a:ahLst/>
              <a:cxnLst/>
              <a:rect l="l" t="t" r="r" b="b"/>
              <a:pathLst>
                <a:path w="2899923" h="2106424">
                  <a:moveTo>
                    <a:pt x="2880564" y="799097"/>
                  </a:moveTo>
                  <a:cubicBezTo>
                    <a:pt x="2879294" y="623837"/>
                    <a:pt x="2869134" y="411747"/>
                    <a:pt x="2869134" y="221247"/>
                  </a:cubicBezTo>
                  <a:cubicBezTo>
                    <a:pt x="2869134" y="169177"/>
                    <a:pt x="2867864" y="65037"/>
                    <a:pt x="2861514" y="12967"/>
                  </a:cubicBezTo>
                  <a:cubicBezTo>
                    <a:pt x="2709114" y="12967"/>
                    <a:pt x="2545284" y="267"/>
                    <a:pt x="2391614" y="267"/>
                  </a:cubicBezTo>
                  <a:cubicBezTo>
                    <a:pt x="1592784" y="2807"/>
                    <a:pt x="801574" y="-1003"/>
                    <a:pt x="4014" y="267"/>
                  </a:cubicBezTo>
                  <a:cubicBezTo>
                    <a:pt x="4014" y="170447"/>
                    <a:pt x="-1066" y="359677"/>
                    <a:pt x="204" y="529857"/>
                  </a:cubicBezTo>
                  <a:cubicBezTo>
                    <a:pt x="2744" y="847357"/>
                    <a:pt x="6554" y="1166127"/>
                    <a:pt x="6554" y="1483627"/>
                  </a:cubicBezTo>
                  <a:cubicBezTo>
                    <a:pt x="6554" y="1637297"/>
                    <a:pt x="5284" y="1789697"/>
                    <a:pt x="12904" y="1943367"/>
                  </a:cubicBezTo>
                  <a:cubicBezTo>
                    <a:pt x="15444" y="1992897"/>
                    <a:pt x="17984" y="2041157"/>
                    <a:pt x="23064" y="2090687"/>
                  </a:cubicBezTo>
                  <a:cubicBezTo>
                    <a:pt x="190704" y="2093227"/>
                    <a:pt x="357074" y="2097037"/>
                    <a:pt x="524714" y="2102117"/>
                  </a:cubicBezTo>
                  <a:cubicBezTo>
                    <a:pt x="970484" y="2114817"/>
                    <a:pt x="1403554" y="2094497"/>
                    <a:pt x="1863294" y="2103387"/>
                  </a:cubicBezTo>
                  <a:cubicBezTo>
                    <a:pt x="2210004" y="2109737"/>
                    <a:pt x="2550364" y="2090687"/>
                    <a:pt x="2897074" y="2090687"/>
                  </a:cubicBezTo>
                  <a:cubicBezTo>
                    <a:pt x="2897074" y="2074177"/>
                    <a:pt x="2898344" y="1977657"/>
                    <a:pt x="2899614" y="1961147"/>
                  </a:cubicBezTo>
                  <a:cubicBezTo>
                    <a:pt x="2902154" y="1862087"/>
                    <a:pt x="2888184" y="1676667"/>
                    <a:pt x="2889454" y="1577607"/>
                  </a:cubicBezTo>
                  <a:cubicBezTo>
                    <a:pt x="2895804" y="1169937"/>
                    <a:pt x="2883104" y="1150887"/>
                    <a:pt x="2880564" y="799097"/>
                  </a:cubicBezTo>
                  <a:close/>
                </a:path>
              </a:pathLst>
            </a:custGeom>
            <a:blipFill>
              <a:blip r:embed="rId4"/>
              <a:stretch>
                <a:fillRect l="-16806" r="-16806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2216991" y="725187"/>
            <a:ext cx="13854017" cy="1245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sz="8799" b="1">
                <a:solidFill>
                  <a:srgbClr val="3437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Risk Analytics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30089" y="6972300"/>
            <a:ext cx="18288000" cy="2380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343734"/>
                </a:solidFill>
                <a:latin typeface="Canva Sans"/>
                <a:ea typeface="Canva Sans"/>
                <a:cs typeface="Canva Sans"/>
                <a:sym typeface="Canva Sans"/>
              </a:rPr>
              <a:t>• Higher returns generally require higher risk exposure.</a:t>
            </a:r>
          </a:p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343734"/>
                </a:solidFill>
                <a:latin typeface="Canva Sans"/>
                <a:ea typeface="Canva Sans"/>
                <a:cs typeface="Canva Sans"/>
                <a:sym typeface="Canva Sans"/>
              </a:rPr>
              <a:t>• Most mutual fund schemes belong to moderate-risk categories.</a:t>
            </a:r>
          </a:p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343734"/>
                </a:solidFill>
                <a:latin typeface="Canva Sans"/>
                <a:ea typeface="Canva Sans"/>
                <a:cs typeface="Canva Sans"/>
                <a:sym typeface="Canva Sans"/>
              </a:rPr>
              <a:t>• Rolling Sharpe Ratio analysis reveals fluctuations in risk-adjusted performance over time.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A1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29832" y="2562290"/>
            <a:ext cx="5633401" cy="4088719"/>
            <a:chOff x="0" y="0"/>
            <a:chExt cx="2899410" cy="2104390"/>
          </a:xfrm>
        </p:grpSpPr>
        <p:sp>
          <p:nvSpPr>
            <p:cNvPr id="3" name="Freeform 3"/>
            <p:cNvSpPr/>
            <p:nvPr/>
          </p:nvSpPr>
          <p:spPr>
            <a:xfrm>
              <a:off x="15036" y="-267"/>
              <a:ext cx="2899923" cy="2106424"/>
            </a:xfrm>
            <a:custGeom>
              <a:avLst/>
              <a:gdLst/>
              <a:ahLst/>
              <a:cxnLst/>
              <a:rect l="l" t="t" r="r" b="b"/>
              <a:pathLst>
                <a:path w="2899923" h="2106424">
                  <a:moveTo>
                    <a:pt x="2880564" y="799097"/>
                  </a:moveTo>
                  <a:cubicBezTo>
                    <a:pt x="2879294" y="623837"/>
                    <a:pt x="2869134" y="411747"/>
                    <a:pt x="2869134" y="221247"/>
                  </a:cubicBezTo>
                  <a:cubicBezTo>
                    <a:pt x="2869134" y="169177"/>
                    <a:pt x="2867864" y="65037"/>
                    <a:pt x="2861514" y="12967"/>
                  </a:cubicBezTo>
                  <a:cubicBezTo>
                    <a:pt x="2709114" y="12967"/>
                    <a:pt x="2545284" y="267"/>
                    <a:pt x="2391614" y="267"/>
                  </a:cubicBezTo>
                  <a:cubicBezTo>
                    <a:pt x="1592784" y="2807"/>
                    <a:pt x="801574" y="-1003"/>
                    <a:pt x="4014" y="267"/>
                  </a:cubicBezTo>
                  <a:cubicBezTo>
                    <a:pt x="4014" y="170447"/>
                    <a:pt x="-1066" y="359677"/>
                    <a:pt x="204" y="529857"/>
                  </a:cubicBezTo>
                  <a:cubicBezTo>
                    <a:pt x="2744" y="847357"/>
                    <a:pt x="6554" y="1166127"/>
                    <a:pt x="6554" y="1483627"/>
                  </a:cubicBezTo>
                  <a:cubicBezTo>
                    <a:pt x="6554" y="1637297"/>
                    <a:pt x="5284" y="1789697"/>
                    <a:pt x="12904" y="1943367"/>
                  </a:cubicBezTo>
                  <a:cubicBezTo>
                    <a:pt x="15444" y="1992897"/>
                    <a:pt x="17984" y="2041157"/>
                    <a:pt x="23064" y="2090687"/>
                  </a:cubicBezTo>
                  <a:cubicBezTo>
                    <a:pt x="190704" y="2093227"/>
                    <a:pt x="357074" y="2097037"/>
                    <a:pt x="524714" y="2102117"/>
                  </a:cubicBezTo>
                  <a:cubicBezTo>
                    <a:pt x="970484" y="2114817"/>
                    <a:pt x="1403554" y="2094497"/>
                    <a:pt x="1863294" y="2103387"/>
                  </a:cubicBezTo>
                  <a:cubicBezTo>
                    <a:pt x="2210004" y="2109737"/>
                    <a:pt x="2550364" y="2090687"/>
                    <a:pt x="2897074" y="2090687"/>
                  </a:cubicBezTo>
                  <a:cubicBezTo>
                    <a:pt x="2897074" y="2074177"/>
                    <a:pt x="2898344" y="1977657"/>
                    <a:pt x="2899614" y="1961147"/>
                  </a:cubicBezTo>
                  <a:cubicBezTo>
                    <a:pt x="2902154" y="1862087"/>
                    <a:pt x="2888184" y="1676667"/>
                    <a:pt x="2889454" y="1577607"/>
                  </a:cubicBezTo>
                  <a:cubicBezTo>
                    <a:pt x="2895804" y="1169937"/>
                    <a:pt x="2883104" y="1150887"/>
                    <a:pt x="2880564" y="799097"/>
                  </a:cubicBezTo>
                  <a:close/>
                </a:path>
              </a:pathLst>
            </a:custGeom>
            <a:blipFill>
              <a:blip r:embed="rId2"/>
              <a:stretch>
                <a:fillRect t="-5068" b="-5068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2000003" y="1123950"/>
            <a:ext cx="14287995" cy="1245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sz="8799" b="1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Advanced Analytics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327299" y="2562290"/>
            <a:ext cx="5633401" cy="4088719"/>
            <a:chOff x="0" y="0"/>
            <a:chExt cx="2899410" cy="2104390"/>
          </a:xfrm>
        </p:grpSpPr>
        <p:sp>
          <p:nvSpPr>
            <p:cNvPr id="6" name="Freeform 6"/>
            <p:cNvSpPr/>
            <p:nvPr/>
          </p:nvSpPr>
          <p:spPr>
            <a:xfrm>
              <a:off x="15036" y="-267"/>
              <a:ext cx="2899923" cy="2106424"/>
            </a:xfrm>
            <a:custGeom>
              <a:avLst/>
              <a:gdLst/>
              <a:ahLst/>
              <a:cxnLst/>
              <a:rect l="l" t="t" r="r" b="b"/>
              <a:pathLst>
                <a:path w="2899923" h="2106424">
                  <a:moveTo>
                    <a:pt x="2880564" y="799097"/>
                  </a:moveTo>
                  <a:cubicBezTo>
                    <a:pt x="2879294" y="623837"/>
                    <a:pt x="2869134" y="411747"/>
                    <a:pt x="2869134" y="221247"/>
                  </a:cubicBezTo>
                  <a:cubicBezTo>
                    <a:pt x="2869134" y="169177"/>
                    <a:pt x="2867864" y="65037"/>
                    <a:pt x="2861514" y="12967"/>
                  </a:cubicBezTo>
                  <a:cubicBezTo>
                    <a:pt x="2709114" y="12967"/>
                    <a:pt x="2545284" y="267"/>
                    <a:pt x="2391614" y="267"/>
                  </a:cubicBezTo>
                  <a:cubicBezTo>
                    <a:pt x="1592784" y="2807"/>
                    <a:pt x="801574" y="-1003"/>
                    <a:pt x="4014" y="267"/>
                  </a:cubicBezTo>
                  <a:cubicBezTo>
                    <a:pt x="4014" y="170447"/>
                    <a:pt x="-1066" y="359677"/>
                    <a:pt x="204" y="529857"/>
                  </a:cubicBezTo>
                  <a:cubicBezTo>
                    <a:pt x="2744" y="847357"/>
                    <a:pt x="6554" y="1166127"/>
                    <a:pt x="6554" y="1483627"/>
                  </a:cubicBezTo>
                  <a:cubicBezTo>
                    <a:pt x="6554" y="1637297"/>
                    <a:pt x="5284" y="1789697"/>
                    <a:pt x="12904" y="1943367"/>
                  </a:cubicBezTo>
                  <a:cubicBezTo>
                    <a:pt x="15444" y="1992897"/>
                    <a:pt x="17984" y="2041157"/>
                    <a:pt x="23064" y="2090687"/>
                  </a:cubicBezTo>
                  <a:cubicBezTo>
                    <a:pt x="190704" y="2093227"/>
                    <a:pt x="357074" y="2097037"/>
                    <a:pt x="524714" y="2102117"/>
                  </a:cubicBezTo>
                  <a:cubicBezTo>
                    <a:pt x="970484" y="2114817"/>
                    <a:pt x="1403554" y="2094497"/>
                    <a:pt x="1863294" y="2103387"/>
                  </a:cubicBezTo>
                  <a:cubicBezTo>
                    <a:pt x="2210004" y="2109737"/>
                    <a:pt x="2550364" y="2090687"/>
                    <a:pt x="2897074" y="2090687"/>
                  </a:cubicBezTo>
                  <a:cubicBezTo>
                    <a:pt x="2897074" y="2074177"/>
                    <a:pt x="2898344" y="1977657"/>
                    <a:pt x="2899614" y="1961147"/>
                  </a:cubicBezTo>
                  <a:cubicBezTo>
                    <a:pt x="2902154" y="1862087"/>
                    <a:pt x="2888184" y="1676667"/>
                    <a:pt x="2889454" y="1577607"/>
                  </a:cubicBezTo>
                  <a:cubicBezTo>
                    <a:pt x="2895804" y="1169937"/>
                    <a:pt x="2883104" y="1150887"/>
                    <a:pt x="2880564" y="799097"/>
                  </a:cubicBezTo>
                  <a:close/>
                </a:path>
              </a:pathLst>
            </a:custGeom>
            <a:blipFill>
              <a:blip r:embed="rId3"/>
              <a:stretch>
                <a:fillRect t="-1563" b="-1563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2224767" y="2562290"/>
            <a:ext cx="5633401" cy="4088719"/>
            <a:chOff x="0" y="0"/>
            <a:chExt cx="2899410" cy="2104390"/>
          </a:xfrm>
        </p:grpSpPr>
        <p:sp>
          <p:nvSpPr>
            <p:cNvPr id="8" name="Freeform 8"/>
            <p:cNvSpPr/>
            <p:nvPr/>
          </p:nvSpPr>
          <p:spPr>
            <a:xfrm>
              <a:off x="15036" y="-267"/>
              <a:ext cx="2899923" cy="2106424"/>
            </a:xfrm>
            <a:custGeom>
              <a:avLst/>
              <a:gdLst/>
              <a:ahLst/>
              <a:cxnLst/>
              <a:rect l="l" t="t" r="r" b="b"/>
              <a:pathLst>
                <a:path w="2899923" h="2106424">
                  <a:moveTo>
                    <a:pt x="2880564" y="799097"/>
                  </a:moveTo>
                  <a:cubicBezTo>
                    <a:pt x="2879294" y="623837"/>
                    <a:pt x="2869134" y="411747"/>
                    <a:pt x="2869134" y="221247"/>
                  </a:cubicBezTo>
                  <a:cubicBezTo>
                    <a:pt x="2869134" y="169177"/>
                    <a:pt x="2867864" y="65037"/>
                    <a:pt x="2861514" y="12967"/>
                  </a:cubicBezTo>
                  <a:cubicBezTo>
                    <a:pt x="2709114" y="12967"/>
                    <a:pt x="2545284" y="267"/>
                    <a:pt x="2391614" y="267"/>
                  </a:cubicBezTo>
                  <a:cubicBezTo>
                    <a:pt x="1592784" y="2807"/>
                    <a:pt x="801574" y="-1003"/>
                    <a:pt x="4014" y="267"/>
                  </a:cubicBezTo>
                  <a:cubicBezTo>
                    <a:pt x="4014" y="170447"/>
                    <a:pt x="-1066" y="359677"/>
                    <a:pt x="204" y="529857"/>
                  </a:cubicBezTo>
                  <a:cubicBezTo>
                    <a:pt x="2744" y="847357"/>
                    <a:pt x="6554" y="1166127"/>
                    <a:pt x="6554" y="1483627"/>
                  </a:cubicBezTo>
                  <a:cubicBezTo>
                    <a:pt x="6554" y="1637297"/>
                    <a:pt x="5284" y="1789697"/>
                    <a:pt x="12904" y="1943367"/>
                  </a:cubicBezTo>
                  <a:cubicBezTo>
                    <a:pt x="15444" y="1992897"/>
                    <a:pt x="17984" y="2041157"/>
                    <a:pt x="23064" y="2090687"/>
                  </a:cubicBezTo>
                  <a:cubicBezTo>
                    <a:pt x="190704" y="2093227"/>
                    <a:pt x="357074" y="2097037"/>
                    <a:pt x="524714" y="2102117"/>
                  </a:cubicBezTo>
                  <a:cubicBezTo>
                    <a:pt x="970484" y="2114817"/>
                    <a:pt x="1403554" y="2094497"/>
                    <a:pt x="1863294" y="2103387"/>
                  </a:cubicBezTo>
                  <a:cubicBezTo>
                    <a:pt x="2210004" y="2109737"/>
                    <a:pt x="2550364" y="2090687"/>
                    <a:pt x="2897074" y="2090687"/>
                  </a:cubicBezTo>
                  <a:cubicBezTo>
                    <a:pt x="2897074" y="2074177"/>
                    <a:pt x="2898344" y="1977657"/>
                    <a:pt x="2899614" y="1961147"/>
                  </a:cubicBezTo>
                  <a:cubicBezTo>
                    <a:pt x="2902154" y="1862087"/>
                    <a:pt x="2888184" y="1676667"/>
                    <a:pt x="2889454" y="1577607"/>
                  </a:cubicBezTo>
                  <a:cubicBezTo>
                    <a:pt x="2895804" y="1169937"/>
                    <a:pt x="2883104" y="1150887"/>
                    <a:pt x="2880564" y="799097"/>
                  </a:cubicBezTo>
                  <a:close/>
                </a:path>
              </a:pathLst>
            </a:custGeom>
            <a:blipFill>
              <a:blip r:embed="rId4"/>
              <a:stretch>
                <a:fillRect l="-22637" r="-22637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429832" y="7128595"/>
            <a:ext cx="17651968" cy="1780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EFF1E8"/>
                </a:solidFill>
                <a:latin typeface="Canva Sans"/>
                <a:ea typeface="Canva Sans"/>
                <a:cs typeface="Canva Sans"/>
                <a:sym typeface="Canva Sans"/>
              </a:rPr>
              <a:t>• Correlation analysis identifies relationships between key fund performance metrics.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EFF1E8"/>
                </a:solidFill>
                <a:latin typeface="Canva Sans"/>
                <a:ea typeface="Canva Sans"/>
                <a:cs typeface="Canva Sans"/>
                <a:sym typeface="Canva Sans"/>
              </a:rPr>
              <a:t>• Expense ratios show varying impact on fund returns across schemes.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EFF1E8"/>
                </a:solidFill>
                <a:latin typeface="Canva Sans"/>
                <a:ea typeface="Canva Sans"/>
                <a:cs typeface="Canva Sans"/>
                <a:sym typeface="Canva Sans"/>
              </a:rPr>
              <a:t>• Category inflow patterns reveal changing investor preferences over time.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1183" y="1554889"/>
            <a:ext cx="6559109" cy="3288278"/>
            <a:chOff x="0" y="0"/>
            <a:chExt cx="4197615" cy="2104390"/>
          </a:xfrm>
        </p:grpSpPr>
        <p:sp>
          <p:nvSpPr>
            <p:cNvPr id="3" name="Freeform 3"/>
            <p:cNvSpPr/>
            <p:nvPr/>
          </p:nvSpPr>
          <p:spPr>
            <a:xfrm>
              <a:off x="21769" y="-267"/>
              <a:ext cx="4191396" cy="2106424"/>
            </a:xfrm>
            <a:custGeom>
              <a:avLst/>
              <a:gdLst/>
              <a:ahLst/>
              <a:cxnLst/>
              <a:rect l="l" t="t" r="r" b="b"/>
              <a:pathLst>
                <a:path w="4191396" h="2106424">
                  <a:moveTo>
                    <a:pt x="4170330" y="799097"/>
                  </a:moveTo>
                  <a:cubicBezTo>
                    <a:pt x="4168491" y="623837"/>
                    <a:pt x="4153782" y="411747"/>
                    <a:pt x="4153782" y="221247"/>
                  </a:cubicBezTo>
                  <a:cubicBezTo>
                    <a:pt x="4153782" y="169177"/>
                    <a:pt x="4151944" y="65037"/>
                    <a:pt x="4142750" y="12967"/>
                  </a:cubicBezTo>
                  <a:cubicBezTo>
                    <a:pt x="3922114" y="12967"/>
                    <a:pt x="3684929" y="267"/>
                    <a:pt x="3462454" y="267"/>
                  </a:cubicBezTo>
                  <a:cubicBezTo>
                    <a:pt x="2305949" y="2807"/>
                    <a:pt x="1160476" y="-1003"/>
                    <a:pt x="5811" y="267"/>
                  </a:cubicBezTo>
                  <a:cubicBezTo>
                    <a:pt x="5811" y="170447"/>
                    <a:pt x="-1544" y="359677"/>
                    <a:pt x="295" y="529857"/>
                  </a:cubicBezTo>
                  <a:cubicBezTo>
                    <a:pt x="3972" y="847357"/>
                    <a:pt x="9488" y="1166127"/>
                    <a:pt x="9488" y="1483627"/>
                  </a:cubicBezTo>
                  <a:cubicBezTo>
                    <a:pt x="9488" y="1637297"/>
                    <a:pt x="7649" y="1789697"/>
                    <a:pt x="18681" y="1943367"/>
                  </a:cubicBezTo>
                  <a:cubicBezTo>
                    <a:pt x="22358" y="1992897"/>
                    <a:pt x="26036" y="2041157"/>
                    <a:pt x="33390" y="2090687"/>
                  </a:cubicBezTo>
                  <a:cubicBezTo>
                    <a:pt x="276091" y="2093227"/>
                    <a:pt x="516952" y="2097037"/>
                    <a:pt x="759653" y="2102117"/>
                  </a:cubicBezTo>
                  <a:cubicBezTo>
                    <a:pt x="1405016" y="2114817"/>
                    <a:pt x="2031992" y="2094497"/>
                    <a:pt x="2697580" y="2103387"/>
                  </a:cubicBezTo>
                  <a:cubicBezTo>
                    <a:pt x="3199528" y="2109737"/>
                    <a:pt x="3692283" y="2090687"/>
                    <a:pt x="4188546" y="2090687"/>
                  </a:cubicBezTo>
                  <a:cubicBezTo>
                    <a:pt x="4188546" y="2074177"/>
                    <a:pt x="4189816" y="1977657"/>
                    <a:pt x="4191086" y="1961147"/>
                  </a:cubicBezTo>
                  <a:cubicBezTo>
                    <a:pt x="4193626" y="1862087"/>
                    <a:pt x="4179656" y="1676667"/>
                    <a:pt x="4180926" y="1577607"/>
                  </a:cubicBezTo>
                  <a:cubicBezTo>
                    <a:pt x="4187276" y="1169937"/>
                    <a:pt x="4174007" y="1150887"/>
                    <a:pt x="4170330" y="799097"/>
                  </a:cubicBezTo>
                  <a:close/>
                </a:path>
              </a:pathLst>
            </a:custGeom>
            <a:blipFill>
              <a:blip r:embed="rId2"/>
              <a:stretch>
                <a:fillRect l="-519" t="-3375" r="-530" b="-3374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3398824" y="66675"/>
            <a:ext cx="11490352" cy="10451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28"/>
              </a:lnSpc>
            </a:pPr>
            <a:r>
              <a:rPr lang="en-US" sz="7298" b="1">
                <a:solidFill>
                  <a:srgbClr val="3437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Power BI Dashboard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9685328" y="1554889"/>
            <a:ext cx="6559109" cy="3276762"/>
            <a:chOff x="0" y="0"/>
            <a:chExt cx="4212367" cy="2104390"/>
          </a:xfrm>
        </p:grpSpPr>
        <p:sp>
          <p:nvSpPr>
            <p:cNvPr id="6" name="Freeform 6"/>
            <p:cNvSpPr/>
            <p:nvPr/>
          </p:nvSpPr>
          <p:spPr>
            <a:xfrm>
              <a:off x="21845" y="-267"/>
              <a:ext cx="4206071" cy="2106424"/>
            </a:xfrm>
            <a:custGeom>
              <a:avLst/>
              <a:gdLst/>
              <a:ahLst/>
              <a:cxnLst/>
              <a:rect l="l" t="t" r="r" b="b"/>
              <a:pathLst>
                <a:path w="4206071" h="2106424">
                  <a:moveTo>
                    <a:pt x="4184987" y="799097"/>
                  </a:moveTo>
                  <a:cubicBezTo>
                    <a:pt x="4183142" y="623837"/>
                    <a:pt x="4168381" y="411747"/>
                    <a:pt x="4168381" y="221247"/>
                  </a:cubicBezTo>
                  <a:cubicBezTo>
                    <a:pt x="4168381" y="169177"/>
                    <a:pt x="4166536" y="65037"/>
                    <a:pt x="4157310" y="12967"/>
                  </a:cubicBezTo>
                  <a:cubicBezTo>
                    <a:pt x="3935898" y="12967"/>
                    <a:pt x="3697880" y="267"/>
                    <a:pt x="3474623" y="267"/>
                  </a:cubicBezTo>
                  <a:cubicBezTo>
                    <a:pt x="2314054" y="2807"/>
                    <a:pt x="1164555" y="-1003"/>
                    <a:pt x="5832" y="267"/>
                  </a:cubicBezTo>
                  <a:cubicBezTo>
                    <a:pt x="5832" y="170447"/>
                    <a:pt x="-1549" y="359677"/>
                    <a:pt x="296" y="529857"/>
                  </a:cubicBezTo>
                  <a:cubicBezTo>
                    <a:pt x="3986" y="847357"/>
                    <a:pt x="9522" y="1166127"/>
                    <a:pt x="9522" y="1483627"/>
                  </a:cubicBezTo>
                  <a:cubicBezTo>
                    <a:pt x="9522" y="1637297"/>
                    <a:pt x="7677" y="1789697"/>
                    <a:pt x="18747" y="1943367"/>
                  </a:cubicBezTo>
                  <a:cubicBezTo>
                    <a:pt x="22437" y="1992897"/>
                    <a:pt x="26128" y="2041157"/>
                    <a:pt x="33508" y="2090687"/>
                  </a:cubicBezTo>
                  <a:cubicBezTo>
                    <a:pt x="277061" y="2093227"/>
                    <a:pt x="518770" y="2097037"/>
                    <a:pt x="762323" y="2102117"/>
                  </a:cubicBezTo>
                  <a:cubicBezTo>
                    <a:pt x="1409954" y="2114817"/>
                    <a:pt x="2039133" y="2094497"/>
                    <a:pt x="2707061" y="2103387"/>
                  </a:cubicBezTo>
                  <a:cubicBezTo>
                    <a:pt x="3210773" y="2109737"/>
                    <a:pt x="3705260" y="2090687"/>
                    <a:pt x="4203222" y="2090687"/>
                  </a:cubicBezTo>
                  <a:cubicBezTo>
                    <a:pt x="4203222" y="2074177"/>
                    <a:pt x="4204492" y="1977657"/>
                    <a:pt x="4205762" y="1961147"/>
                  </a:cubicBezTo>
                  <a:cubicBezTo>
                    <a:pt x="4208302" y="1862087"/>
                    <a:pt x="4194332" y="1676667"/>
                    <a:pt x="4195602" y="1577607"/>
                  </a:cubicBezTo>
                  <a:cubicBezTo>
                    <a:pt x="4201952" y="1169937"/>
                    <a:pt x="4188677" y="1150887"/>
                    <a:pt x="4184987" y="799097"/>
                  </a:cubicBezTo>
                  <a:close/>
                </a:path>
              </a:pathLst>
            </a:custGeom>
            <a:blipFill>
              <a:blip r:embed="rId3"/>
              <a:stretch>
                <a:fillRect t="-3005" b="-3005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521183" y="5290842"/>
            <a:ext cx="6559109" cy="3288278"/>
            <a:chOff x="0" y="0"/>
            <a:chExt cx="4197615" cy="2104390"/>
          </a:xfrm>
        </p:grpSpPr>
        <p:sp>
          <p:nvSpPr>
            <p:cNvPr id="8" name="Freeform 8"/>
            <p:cNvSpPr/>
            <p:nvPr/>
          </p:nvSpPr>
          <p:spPr>
            <a:xfrm>
              <a:off x="21769" y="-267"/>
              <a:ext cx="4191396" cy="2106424"/>
            </a:xfrm>
            <a:custGeom>
              <a:avLst/>
              <a:gdLst/>
              <a:ahLst/>
              <a:cxnLst/>
              <a:rect l="l" t="t" r="r" b="b"/>
              <a:pathLst>
                <a:path w="4191396" h="2106424">
                  <a:moveTo>
                    <a:pt x="4170330" y="799097"/>
                  </a:moveTo>
                  <a:cubicBezTo>
                    <a:pt x="4168491" y="623837"/>
                    <a:pt x="4153782" y="411747"/>
                    <a:pt x="4153782" y="221247"/>
                  </a:cubicBezTo>
                  <a:cubicBezTo>
                    <a:pt x="4153782" y="169177"/>
                    <a:pt x="4151944" y="65037"/>
                    <a:pt x="4142750" y="12967"/>
                  </a:cubicBezTo>
                  <a:cubicBezTo>
                    <a:pt x="3922114" y="12967"/>
                    <a:pt x="3684929" y="267"/>
                    <a:pt x="3462454" y="267"/>
                  </a:cubicBezTo>
                  <a:cubicBezTo>
                    <a:pt x="2305949" y="2807"/>
                    <a:pt x="1160476" y="-1003"/>
                    <a:pt x="5811" y="267"/>
                  </a:cubicBezTo>
                  <a:cubicBezTo>
                    <a:pt x="5811" y="170447"/>
                    <a:pt x="-1544" y="359677"/>
                    <a:pt x="295" y="529857"/>
                  </a:cubicBezTo>
                  <a:cubicBezTo>
                    <a:pt x="3972" y="847357"/>
                    <a:pt x="9488" y="1166127"/>
                    <a:pt x="9488" y="1483627"/>
                  </a:cubicBezTo>
                  <a:cubicBezTo>
                    <a:pt x="9488" y="1637297"/>
                    <a:pt x="7649" y="1789697"/>
                    <a:pt x="18681" y="1943367"/>
                  </a:cubicBezTo>
                  <a:cubicBezTo>
                    <a:pt x="22358" y="1992897"/>
                    <a:pt x="26036" y="2041157"/>
                    <a:pt x="33390" y="2090687"/>
                  </a:cubicBezTo>
                  <a:cubicBezTo>
                    <a:pt x="276091" y="2093227"/>
                    <a:pt x="516952" y="2097037"/>
                    <a:pt x="759653" y="2102117"/>
                  </a:cubicBezTo>
                  <a:cubicBezTo>
                    <a:pt x="1405016" y="2114817"/>
                    <a:pt x="2031992" y="2094497"/>
                    <a:pt x="2697580" y="2103387"/>
                  </a:cubicBezTo>
                  <a:cubicBezTo>
                    <a:pt x="3199528" y="2109737"/>
                    <a:pt x="3692283" y="2090687"/>
                    <a:pt x="4188546" y="2090687"/>
                  </a:cubicBezTo>
                  <a:cubicBezTo>
                    <a:pt x="4188546" y="2074177"/>
                    <a:pt x="4189816" y="1977657"/>
                    <a:pt x="4191086" y="1961147"/>
                  </a:cubicBezTo>
                  <a:cubicBezTo>
                    <a:pt x="4193626" y="1862087"/>
                    <a:pt x="4179656" y="1676667"/>
                    <a:pt x="4180926" y="1577607"/>
                  </a:cubicBezTo>
                  <a:cubicBezTo>
                    <a:pt x="4187276" y="1169937"/>
                    <a:pt x="4174007" y="1150887"/>
                    <a:pt x="4170330" y="799097"/>
                  </a:cubicBezTo>
                  <a:close/>
                </a:path>
              </a:pathLst>
            </a:custGeom>
            <a:blipFill>
              <a:blip r:embed="rId4"/>
              <a:stretch>
                <a:fillRect t="-2820" b="-2820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9685328" y="5279326"/>
            <a:ext cx="6559109" cy="3288278"/>
            <a:chOff x="0" y="0"/>
            <a:chExt cx="4197615" cy="2104390"/>
          </a:xfrm>
        </p:grpSpPr>
        <p:sp>
          <p:nvSpPr>
            <p:cNvPr id="10" name="Freeform 10"/>
            <p:cNvSpPr/>
            <p:nvPr/>
          </p:nvSpPr>
          <p:spPr>
            <a:xfrm>
              <a:off x="21769" y="-267"/>
              <a:ext cx="4191396" cy="2106424"/>
            </a:xfrm>
            <a:custGeom>
              <a:avLst/>
              <a:gdLst/>
              <a:ahLst/>
              <a:cxnLst/>
              <a:rect l="l" t="t" r="r" b="b"/>
              <a:pathLst>
                <a:path w="4191396" h="2106424">
                  <a:moveTo>
                    <a:pt x="4170330" y="799097"/>
                  </a:moveTo>
                  <a:cubicBezTo>
                    <a:pt x="4168491" y="623837"/>
                    <a:pt x="4153782" y="411747"/>
                    <a:pt x="4153782" y="221247"/>
                  </a:cubicBezTo>
                  <a:cubicBezTo>
                    <a:pt x="4153782" y="169177"/>
                    <a:pt x="4151944" y="65037"/>
                    <a:pt x="4142750" y="12967"/>
                  </a:cubicBezTo>
                  <a:cubicBezTo>
                    <a:pt x="3922114" y="12967"/>
                    <a:pt x="3684929" y="267"/>
                    <a:pt x="3462454" y="267"/>
                  </a:cubicBezTo>
                  <a:cubicBezTo>
                    <a:pt x="2305949" y="2807"/>
                    <a:pt x="1160476" y="-1003"/>
                    <a:pt x="5811" y="267"/>
                  </a:cubicBezTo>
                  <a:cubicBezTo>
                    <a:pt x="5811" y="170447"/>
                    <a:pt x="-1544" y="359677"/>
                    <a:pt x="295" y="529857"/>
                  </a:cubicBezTo>
                  <a:cubicBezTo>
                    <a:pt x="3972" y="847357"/>
                    <a:pt x="9488" y="1166127"/>
                    <a:pt x="9488" y="1483627"/>
                  </a:cubicBezTo>
                  <a:cubicBezTo>
                    <a:pt x="9488" y="1637297"/>
                    <a:pt x="7649" y="1789697"/>
                    <a:pt x="18681" y="1943367"/>
                  </a:cubicBezTo>
                  <a:cubicBezTo>
                    <a:pt x="22358" y="1992897"/>
                    <a:pt x="26036" y="2041157"/>
                    <a:pt x="33390" y="2090687"/>
                  </a:cubicBezTo>
                  <a:cubicBezTo>
                    <a:pt x="276091" y="2093227"/>
                    <a:pt x="516952" y="2097037"/>
                    <a:pt x="759653" y="2102117"/>
                  </a:cubicBezTo>
                  <a:cubicBezTo>
                    <a:pt x="1405016" y="2114817"/>
                    <a:pt x="2031992" y="2094497"/>
                    <a:pt x="2697580" y="2103387"/>
                  </a:cubicBezTo>
                  <a:cubicBezTo>
                    <a:pt x="3199528" y="2109737"/>
                    <a:pt x="3692283" y="2090687"/>
                    <a:pt x="4188546" y="2090687"/>
                  </a:cubicBezTo>
                  <a:cubicBezTo>
                    <a:pt x="4188546" y="2074177"/>
                    <a:pt x="4189816" y="1977657"/>
                    <a:pt x="4191086" y="1961147"/>
                  </a:cubicBezTo>
                  <a:cubicBezTo>
                    <a:pt x="4193626" y="1862087"/>
                    <a:pt x="4179656" y="1676667"/>
                    <a:pt x="4180926" y="1577607"/>
                  </a:cubicBezTo>
                  <a:cubicBezTo>
                    <a:pt x="4187276" y="1169937"/>
                    <a:pt x="4174007" y="1150887"/>
                    <a:pt x="4170330" y="799097"/>
                  </a:cubicBezTo>
                  <a:close/>
                </a:path>
              </a:pathLst>
            </a:custGeom>
            <a:blipFill>
              <a:blip r:embed="rId5"/>
              <a:stretch>
                <a:fillRect t="-2820" b="-2820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125925" y="8979169"/>
            <a:ext cx="18288000" cy="869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343734"/>
                </a:solidFill>
                <a:latin typeface="Canva Sans"/>
                <a:ea typeface="Canva Sans"/>
                <a:cs typeface="Canva Sans"/>
                <a:sym typeface="Canva Sans"/>
              </a:rPr>
              <a:t>The Power BI dashboard integrates all analytical outputs into a single interactive platform. Users can explore investor demographics, fund performance, industry trends, and portfolio analytics through dynamic visualizations and filters.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A1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39653" y="810495"/>
            <a:ext cx="14608693" cy="1245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sz="8799" b="1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Findings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20798" y="2671100"/>
            <a:ext cx="14594178" cy="5494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9"/>
              </a:lnSpc>
            </a:pPr>
            <a:r>
              <a:rPr lang="en-US" sz="3463">
                <a:solidFill>
                  <a:srgbClr val="EFF1E8"/>
                </a:solidFill>
                <a:latin typeface="Canva Sans"/>
                <a:ea typeface="Canva Sans"/>
                <a:cs typeface="Canva Sans"/>
                <a:sym typeface="Canva Sans"/>
              </a:rPr>
              <a:t>• Investors aged 25–45 form the largest participation group.</a:t>
            </a:r>
          </a:p>
          <a:p>
            <a:pPr algn="l">
              <a:lnSpc>
                <a:spcPts val="4849"/>
              </a:lnSpc>
            </a:pPr>
            <a:endParaRPr lang="en-US" sz="3463">
              <a:solidFill>
                <a:srgbClr val="EFF1E8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849"/>
              </a:lnSpc>
            </a:pPr>
            <a:r>
              <a:rPr lang="en-US" sz="3463">
                <a:solidFill>
                  <a:srgbClr val="EFF1E8"/>
                </a:solidFill>
                <a:latin typeface="Canva Sans"/>
                <a:ea typeface="Canva Sans"/>
                <a:cs typeface="Canva Sans"/>
                <a:sym typeface="Canva Sans"/>
              </a:rPr>
              <a:t>• Male investors account for approximately 66% of total investors.</a:t>
            </a:r>
          </a:p>
          <a:p>
            <a:pPr algn="l">
              <a:lnSpc>
                <a:spcPts val="4849"/>
              </a:lnSpc>
            </a:pPr>
            <a:endParaRPr lang="en-US" sz="3463">
              <a:solidFill>
                <a:srgbClr val="EFF1E8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849"/>
              </a:lnSpc>
            </a:pPr>
            <a:r>
              <a:rPr lang="en-US" sz="3463">
                <a:solidFill>
                  <a:srgbClr val="EFF1E8"/>
                </a:solidFill>
                <a:latin typeface="Canva Sans"/>
                <a:ea typeface="Canva Sans"/>
                <a:cs typeface="Canva Sans"/>
                <a:sym typeface="Canva Sans"/>
              </a:rPr>
              <a:t>• T30 cities contribute significantly more investors than B30 cities.</a:t>
            </a:r>
          </a:p>
          <a:p>
            <a:pPr algn="l">
              <a:lnSpc>
                <a:spcPts val="4849"/>
              </a:lnSpc>
            </a:pPr>
            <a:endParaRPr lang="en-US" sz="3463">
              <a:solidFill>
                <a:srgbClr val="EFF1E8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849"/>
              </a:lnSpc>
            </a:pPr>
            <a:r>
              <a:rPr lang="en-US" sz="3463">
                <a:solidFill>
                  <a:srgbClr val="EFF1E8"/>
                </a:solidFill>
                <a:latin typeface="Canva Sans"/>
                <a:ea typeface="Canva Sans"/>
                <a:cs typeface="Canva Sans"/>
                <a:sym typeface="Canva Sans"/>
              </a:rPr>
              <a:t>• SIP inflows have shown consistent growth over the analyzed period.</a:t>
            </a:r>
          </a:p>
          <a:p>
            <a:pPr algn="l">
              <a:lnSpc>
                <a:spcPts val="4849"/>
              </a:lnSpc>
            </a:pPr>
            <a:endParaRPr lang="en-US" sz="3463">
              <a:solidFill>
                <a:srgbClr val="EFF1E8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849"/>
              </a:lnSpc>
            </a:pPr>
            <a:endParaRPr lang="en-US" sz="3463">
              <a:solidFill>
                <a:srgbClr val="EFF1E8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77592" y="8492289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342729" y="1123950"/>
            <a:ext cx="15602542" cy="1245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sz="8799" b="1">
                <a:solidFill>
                  <a:srgbClr val="3437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Findings (continued)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12160" y="3006942"/>
            <a:ext cx="17063681" cy="4780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343734"/>
                </a:solidFill>
                <a:latin typeface="Canva Sans"/>
                <a:ea typeface="Canva Sans"/>
                <a:cs typeface="Canva Sans"/>
                <a:sym typeface="Canva Sans"/>
              </a:rPr>
              <a:t>• Several mutual fund schemes delivered returns above 20% over a 3-year horizon.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343734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343734"/>
                </a:solidFill>
                <a:latin typeface="Canva Sans"/>
                <a:ea typeface="Canva Sans"/>
                <a:cs typeface="Canva Sans"/>
                <a:sym typeface="Canva Sans"/>
              </a:rPr>
              <a:t>• Most schemes belong to moderate-risk categories.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343734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343734"/>
                </a:solidFill>
                <a:latin typeface="Canva Sans"/>
                <a:ea typeface="Canva Sans"/>
                <a:cs typeface="Canva Sans"/>
                <a:sym typeface="Canva Sans"/>
              </a:rPr>
              <a:t>• Fund performance varies considerably across categories and risk profiles.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343734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343734"/>
                </a:solidFill>
                <a:latin typeface="Canva Sans"/>
                <a:ea typeface="Canva Sans"/>
                <a:cs typeface="Canva Sans"/>
                <a:sym typeface="Canva Sans"/>
              </a:rPr>
              <a:t>• Power BI dashboards enable effective exploration of investor and fund trends.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343734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4272414"/>
            <a:ext cx="3699295" cy="3158997"/>
            <a:chOff x="0" y="0"/>
            <a:chExt cx="811776" cy="69321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1776" cy="693212"/>
            </a:xfrm>
            <a:custGeom>
              <a:avLst/>
              <a:gdLst/>
              <a:ahLst/>
              <a:cxnLst/>
              <a:rect l="l" t="t" r="r" b="b"/>
              <a:pathLst>
                <a:path w="811776" h="693212">
                  <a:moveTo>
                    <a:pt x="106733" y="0"/>
                  </a:moveTo>
                  <a:lnTo>
                    <a:pt x="705042" y="0"/>
                  </a:lnTo>
                  <a:cubicBezTo>
                    <a:pt x="763989" y="0"/>
                    <a:pt x="811776" y="47786"/>
                    <a:pt x="811776" y="106733"/>
                  </a:cubicBezTo>
                  <a:lnTo>
                    <a:pt x="811776" y="586479"/>
                  </a:lnTo>
                  <a:cubicBezTo>
                    <a:pt x="811776" y="614786"/>
                    <a:pt x="800530" y="641934"/>
                    <a:pt x="780514" y="661951"/>
                  </a:cubicBezTo>
                  <a:cubicBezTo>
                    <a:pt x="760498" y="681967"/>
                    <a:pt x="733350" y="693212"/>
                    <a:pt x="705042" y="693212"/>
                  </a:cubicBezTo>
                  <a:lnTo>
                    <a:pt x="106733" y="693212"/>
                  </a:lnTo>
                  <a:cubicBezTo>
                    <a:pt x="47786" y="693212"/>
                    <a:pt x="0" y="645426"/>
                    <a:pt x="0" y="586479"/>
                  </a:cubicBezTo>
                  <a:lnTo>
                    <a:pt x="0" y="106733"/>
                  </a:lnTo>
                  <a:cubicBezTo>
                    <a:pt x="0" y="47786"/>
                    <a:pt x="47786" y="0"/>
                    <a:pt x="106733" y="0"/>
                  </a:cubicBezTo>
                  <a:close/>
                </a:path>
              </a:pathLst>
            </a:custGeom>
            <a:ln w="38100" cap="rnd">
              <a:solidFill>
                <a:srgbClr val="343734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811776" cy="7503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204245" y="4272414"/>
            <a:ext cx="3699295" cy="3158997"/>
            <a:chOff x="0" y="0"/>
            <a:chExt cx="811776" cy="69321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1776" cy="693212"/>
            </a:xfrm>
            <a:custGeom>
              <a:avLst/>
              <a:gdLst/>
              <a:ahLst/>
              <a:cxnLst/>
              <a:rect l="l" t="t" r="r" b="b"/>
              <a:pathLst>
                <a:path w="811776" h="693212">
                  <a:moveTo>
                    <a:pt x="106733" y="0"/>
                  </a:moveTo>
                  <a:lnTo>
                    <a:pt x="705042" y="0"/>
                  </a:lnTo>
                  <a:cubicBezTo>
                    <a:pt x="763989" y="0"/>
                    <a:pt x="811776" y="47786"/>
                    <a:pt x="811776" y="106733"/>
                  </a:cubicBezTo>
                  <a:lnTo>
                    <a:pt x="811776" y="586479"/>
                  </a:lnTo>
                  <a:cubicBezTo>
                    <a:pt x="811776" y="614786"/>
                    <a:pt x="800530" y="641934"/>
                    <a:pt x="780514" y="661951"/>
                  </a:cubicBezTo>
                  <a:cubicBezTo>
                    <a:pt x="760498" y="681967"/>
                    <a:pt x="733350" y="693212"/>
                    <a:pt x="705042" y="693212"/>
                  </a:cubicBezTo>
                  <a:lnTo>
                    <a:pt x="106733" y="693212"/>
                  </a:lnTo>
                  <a:cubicBezTo>
                    <a:pt x="47786" y="693212"/>
                    <a:pt x="0" y="645426"/>
                    <a:pt x="0" y="586479"/>
                  </a:cubicBezTo>
                  <a:lnTo>
                    <a:pt x="0" y="106733"/>
                  </a:lnTo>
                  <a:cubicBezTo>
                    <a:pt x="0" y="47786"/>
                    <a:pt x="47786" y="0"/>
                    <a:pt x="106733" y="0"/>
                  </a:cubicBezTo>
                  <a:close/>
                </a:path>
              </a:pathLst>
            </a:custGeom>
            <a:ln w="38100" cap="rnd">
              <a:solidFill>
                <a:srgbClr val="343734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811776" cy="7503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379791" y="4272414"/>
            <a:ext cx="3518649" cy="3158997"/>
            <a:chOff x="0" y="0"/>
            <a:chExt cx="772134" cy="69321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72134" cy="693212"/>
            </a:xfrm>
            <a:custGeom>
              <a:avLst/>
              <a:gdLst/>
              <a:ahLst/>
              <a:cxnLst/>
              <a:rect l="l" t="t" r="r" b="b"/>
              <a:pathLst>
                <a:path w="772134" h="693212">
                  <a:moveTo>
                    <a:pt x="112213" y="0"/>
                  </a:moveTo>
                  <a:lnTo>
                    <a:pt x="659921" y="0"/>
                  </a:lnTo>
                  <a:cubicBezTo>
                    <a:pt x="721895" y="0"/>
                    <a:pt x="772134" y="50239"/>
                    <a:pt x="772134" y="112213"/>
                  </a:cubicBezTo>
                  <a:lnTo>
                    <a:pt x="772134" y="580999"/>
                  </a:lnTo>
                  <a:cubicBezTo>
                    <a:pt x="772134" y="642973"/>
                    <a:pt x="721895" y="693212"/>
                    <a:pt x="659921" y="693212"/>
                  </a:cubicBezTo>
                  <a:lnTo>
                    <a:pt x="112213" y="693212"/>
                  </a:lnTo>
                  <a:cubicBezTo>
                    <a:pt x="50239" y="693212"/>
                    <a:pt x="0" y="642973"/>
                    <a:pt x="0" y="580999"/>
                  </a:cubicBezTo>
                  <a:lnTo>
                    <a:pt x="0" y="112213"/>
                  </a:lnTo>
                  <a:cubicBezTo>
                    <a:pt x="0" y="50239"/>
                    <a:pt x="50239" y="0"/>
                    <a:pt x="112213" y="0"/>
                  </a:cubicBezTo>
                  <a:close/>
                </a:path>
              </a:pathLst>
            </a:custGeom>
            <a:ln w="38100" cap="rnd">
              <a:solidFill>
                <a:srgbClr val="343734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772134" cy="7503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555336" y="4272414"/>
            <a:ext cx="3355472" cy="3158997"/>
            <a:chOff x="0" y="0"/>
            <a:chExt cx="736327" cy="69321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36327" cy="693212"/>
            </a:xfrm>
            <a:custGeom>
              <a:avLst/>
              <a:gdLst/>
              <a:ahLst/>
              <a:cxnLst/>
              <a:rect l="l" t="t" r="r" b="b"/>
              <a:pathLst>
                <a:path w="736327" h="693212">
                  <a:moveTo>
                    <a:pt x="117670" y="0"/>
                  </a:moveTo>
                  <a:lnTo>
                    <a:pt x="618657" y="0"/>
                  </a:lnTo>
                  <a:cubicBezTo>
                    <a:pt x="649865" y="0"/>
                    <a:pt x="679795" y="12397"/>
                    <a:pt x="701862" y="34465"/>
                  </a:cubicBezTo>
                  <a:cubicBezTo>
                    <a:pt x="723929" y="56532"/>
                    <a:pt x="736327" y="86462"/>
                    <a:pt x="736327" y="117670"/>
                  </a:cubicBezTo>
                  <a:lnTo>
                    <a:pt x="736327" y="575542"/>
                  </a:lnTo>
                  <a:cubicBezTo>
                    <a:pt x="736327" y="606750"/>
                    <a:pt x="723929" y="636680"/>
                    <a:pt x="701862" y="658747"/>
                  </a:cubicBezTo>
                  <a:cubicBezTo>
                    <a:pt x="679795" y="680815"/>
                    <a:pt x="649865" y="693212"/>
                    <a:pt x="618657" y="693212"/>
                  </a:cubicBezTo>
                  <a:lnTo>
                    <a:pt x="117670" y="693212"/>
                  </a:lnTo>
                  <a:cubicBezTo>
                    <a:pt x="86462" y="693212"/>
                    <a:pt x="56532" y="680815"/>
                    <a:pt x="34465" y="658747"/>
                  </a:cubicBezTo>
                  <a:cubicBezTo>
                    <a:pt x="12397" y="636680"/>
                    <a:pt x="0" y="606750"/>
                    <a:pt x="0" y="575542"/>
                  </a:cubicBezTo>
                  <a:lnTo>
                    <a:pt x="0" y="117670"/>
                  </a:lnTo>
                  <a:cubicBezTo>
                    <a:pt x="0" y="86462"/>
                    <a:pt x="12397" y="56532"/>
                    <a:pt x="34465" y="34465"/>
                  </a:cubicBezTo>
                  <a:cubicBezTo>
                    <a:pt x="56532" y="12397"/>
                    <a:pt x="86462" y="0"/>
                    <a:pt x="117670" y="0"/>
                  </a:cubicBezTo>
                  <a:close/>
                </a:path>
              </a:pathLst>
            </a:custGeom>
            <a:ln w="38100" cap="rnd">
              <a:solidFill>
                <a:srgbClr val="343734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736327" cy="7503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826073" y="1123950"/>
            <a:ext cx="13854017" cy="1245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sz="8799" b="1">
                <a:solidFill>
                  <a:srgbClr val="3437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Recommendations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30821" y="4961457"/>
            <a:ext cx="3701843" cy="1866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86"/>
              </a:lnSpc>
              <a:spcBef>
                <a:spcPct val="0"/>
              </a:spcBef>
            </a:pPr>
            <a:r>
              <a:rPr lang="en-US" sz="2633" b="1">
                <a:solidFill>
                  <a:srgbClr val="343734"/>
                </a:solidFill>
                <a:latin typeface="Poppins Bold"/>
                <a:ea typeface="Poppins Bold"/>
                <a:cs typeface="Poppins Bold"/>
                <a:sym typeface="Poppins Bold"/>
              </a:rPr>
              <a:t>Focus marketing efforts on high-growth investor segments.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359373" y="4990261"/>
            <a:ext cx="3393709" cy="1565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42"/>
              </a:lnSpc>
              <a:spcBef>
                <a:spcPct val="0"/>
              </a:spcBef>
            </a:pPr>
            <a:r>
              <a:rPr lang="en-US" sz="2958" b="1">
                <a:solidFill>
                  <a:srgbClr val="343734"/>
                </a:solidFill>
                <a:latin typeface="Poppins Bold"/>
                <a:ea typeface="Poppins Bold"/>
                <a:cs typeface="Poppins Bold"/>
                <a:sym typeface="Poppins Bold"/>
              </a:rPr>
              <a:t>Improve investor engagement in B30 cities.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695933" y="4824963"/>
            <a:ext cx="2912535" cy="22488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54"/>
              </a:lnSpc>
              <a:spcBef>
                <a:spcPct val="0"/>
              </a:spcBef>
            </a:pPr>
            <a:r>
              <a:rPr lang="en-US" sz="2539" b="1">
                <a:solidFill>
                  <a:srgbClr val="343734"/>
                </a:solidFill>
                <a:latin typeface="Poppins Bold"/>
                <a:ea typeface="Poppins Bold"/>
                <a:cs typeface="Poppins Bold"/>
                <a:sym typeface="Poppins Bold"/>
              </a:rPr>
              <a:t>Incorporate advanced predictive analytics for fund selection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864805" y="4834488"/>
            <a:ext cx="2753390" cy="2120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 b="1">
                <a:solidFill>
                  <a:srgbClr val="343734"/>
                </a:solidFill>
                <a:latin typeface="Poppins Bold"/>
                <a:ea typeface="Poppins Bold"/>
                <a:cs typeface="Poppins Bold"/>
                <a:sym typeface="Poppins Bold"/>
              </a:rPr>
              <a:t>Enhance dashboard capabilities with real-time market data.</a:t>
            </a:r>
          </a:p>
        </p:txBody>
      </p:sp>
      <p:sp>
        <p:nvSpPr>
          <p:cNvPr id="19" name="Freeform 19"/>
          <p:cNvSpPr/>
          <p:nvPr/>
        </p:nvSpPr>
        <p:spPr>
          <a:xfrm flipV="1">
            <a:off x="1028700" y="1028700"/>
            <a:ext cx="1015236" cy="1015236"/>
          </a:xfrm>
          <a:custGeom>
            <a:avLst/>
            <a:gdLst/>
            <a:ahLst/>
            <a:cxnLst/>
            <a:rect l="l" t="t" r="r" b="b"/>
            <a:pathLst>
              <a:path w="1015236" h="1015236">
                <a:moveTo>
                  <a:pt x="0" y="1015236"/>
                </a:moveTo>
                <a:lnTo>
                  <a:pt x="1015236" y="1015236"/>
                </a:lnTo>
                <a:lnTo>
                  <a:pt x="1015236" y="0"/>
                </a:lnTo>
                <a:lnTo>
                  <a:pt x="0" y="0"/>
                </a:lnTo>
                <a:lnTo>
                  <a:pt x="0" y="101523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 flipH="1" flipV="1">
            <a:off x="16244064" y="1028700"/>
            <a:ext cx="1015236" cy="1015236"/>
          </a:xfrm>
          <a:custGeom>
            <a:avLst/>
            <a:gdLst/>
            <a:ahLst/>
            <a:cxnLst/>
            <a:rect l="l" t="t" r="r" b="b"/>
            <a:pathLst>
              <a:path w="1015236" h="1015236">
                <a:moveTo>
                  <a:pt x="1015236" y="1015236"/>
                </a:moveTo>
                <a:lnTo>
                  <a:pt x="0" y="1015236"/>
                </a:lnTo>
                <a:lnTo>
                  <a:pt x="0" y="0"/>
                </a:lnTo>
                <a:lnTo>
                  <a:pt x="1015236" y="0"/>
                </a:lnTo>
                <a:lnTo>
                  <a:pt x="1015236" y="101523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A1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16991" y="1123950"/>
            <a:ext cx="13854017" cy="1245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sz="8799" b="1">
                <a:solidFill>
                  <a:srgbClr val="3437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Future Scope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28700" y="4272414"/>
            <a:ext cx="3699295" cy="3158997"/>
            <a:chOff x="0" y="0"/>
            <a:chExt cx="811776" cy="69321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1776" cy="693212"/>
            </a:xfrm>
            <a:custGeom>
              <a:avLst/>
              <a:gdLst/>
              <a:ahLst/>
              <a:cxnLst/>
              <a:rect l="l" t="t" r="r" b="b"/>
              <a:pathLst>
                <a:path w="811776" h="693212">
                  <a:moveTo>
                    <a:pt x="106733" y="0"/>
                  </a:moveTo>
                  <a:lnTo>
                    <a:pt x="705042" y="0"/>
                  </a:lnTo>
                  <a:cubicBezTo>
                    <a:pt x="763989" y="0"/>
                    <a:pt x="811776" y="47786"/>
                    <a:pt x="811776" y="106733"/>
                  </a:cubicBezTo>
                  <a:lnTo>
                    <a:pt x="811776" y="586479"/>
                  </a:lnTo>
                  <a:cubicBezTo>
                    <a:pt x="811776" y="614786"/>
                    <a:pt x="800530" y="641934"/>
                    <a:pt x="780514" y="661951"/>
                  </a:cubicBezTo>
                  <a:cubicBezTo>
                    <a:pt x="760498" y="681967"/>
                    <a:pt x="733350" y="693212"/>
                    <a:pt x="705042" y="693212"/>
                  </a:cubicBezTo>
                  <a:lnTo>
                    <a:pt x="106733" y="693212"/>
                  </a:lnTo>
                  <a:cubicBezTo>
                    <a:pt x="47786" y="693212"/>
                    <a:pt x="0" y="645426"/>
                    <a:pt x="0" y="586479"/>
                  </a:cubicBezTo>
                  <a:lnTo>
                    <a:pt x="0" y="106733"/>
                  </a:lnTo>
                  <a:cubicBezTo>
                    <a:pt x="0" y="47786"/>
                    <a:pt x="47786" y="0"/>
                    <a:pt x="106733" y="0"/>
                  </a:cubicBezTo>
                  <a:close/>
                </a:path>
              </a:pathLst>
            </a:custGeom>
            <a:ln w="38100" cap="rnd">
              <a:solidFill>
                <a:srgbClr val="343734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811776" cy="7503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204245" y="4272414"/>
            <a:ext cx="3699295" cy="3158997"/>
            <a:chOff x="0" y="0"/>
            <a:chExt cx="811776" cy="69321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1776" cy="693212"/>
            </a:xfrm>
            <a:custGeom>
              <a:avLst/>
              <a:gdLst/>
              <a:ahLst/>
              <a:cxnLst/>
              <a:rect l="l" t="t" r="r" b="b"/>
              <a:pathLst>
                <a:path w="811776" h="693212">
                  <a:moveTo>
                    <a:pt x="106733" y="0"/>
                  </a:moveTo>
                  <a:lnTo>
                    <a:pt x="705042" y="0"/>
                  </a:lnTo>
                  <a:cubicBezTo>
                    <a:pt x="763989" y="0"/>
                    <a:pt x="811776" y="47786"/>
                    <a:pt x="811776" y="106733"/>
                  </a:cubicBezTo>
                  <a:lnTo>
                    <a:pt x="811776" y="586479"/>
                  </a:lnTo>
                  <a:cubicBezTo>
                    <a:pt x="811776" y="614786"/>
                    <a:pt x="800530" y="641934"/>
                    <a:pt x="780514" y="661951"/>
                  </a:cubicBezTo>
                  <a:cubicBezTo>
                    <a:pt x="760498" y="681967"/>
                    <a:pt x="733350" y="693212"/>
                    <a:pt x="705042" y="693212"/>
                  </a:cubicBezTo>
                  <a:lnTo>
                    <a:pt x="106733" y="693212"/>
                  </a:lnTo>
                  <a:cubicBezTo>
                    <a:pt x="47786" y="693212"/>
                    <a:pt x="0" y="645426"/>
                    <a:pt x="0" y="586479"/>
                  </a:cubicBezTo>
                  <a:lnTo>
                    <a:pt x="0" y="106733"/>
                  </a:lnTo>
                  <a:cubicBezTo>
                    <a:pt x="0" y="47786"/>
                    <a:pt x="47786" y="0"/>
                    <a:pt x="106733" y="0"/>
                  </a:cubicBezTo>
                  <a:close/>
                </a:path>
              </a:pathLst>
            </a:custGeom>
            <a:ln w="38100" cap="rnd">
              <a:solidFill>
                <a:srgbClr val="343734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811776" cy="7503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379791" y="4272414"/>
            <a:ext cx="3518649" cy="3158997"/>
            <a:chOff x="0" y="0"/>
            <a:chExt cx="772134" cy="69321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72134" cy="693212"/>
            </a:xfrm>
            <a:custGeom>
              <a:avLst/>
              <a:gdLst/>
              <a:ahLst/>
              <a:cxnLst/>
              <a:rect l="l" t="t" r="r" b="b"/>
              <a:pathLst>
                <a:path w="772134" h="693212">
                  <a:moveTo>
                    <a:pt x="112213" y="0"/>
                  </a:moveTo>
                  <a:lnTo>
                    <a:pt x="659921" y="0"/>
                  </a:lnTo>
                  <a:cubicBezTo>
                    <a:pt x="721895" y="0"/>
                    <a:pt x="772134" y="50239"/>
                    <a:pt x="772134" y="112213"/>
                  </a:cubicBezTo>
                  <a:lnTo>
                    <a:pt x="772134" y="580999"/>
                  </a:lnTo>
                  <a:cubicBezTo>
                    <a:pt x="772134" y="642973"/>
                    <a:pt x="721895" y="693212"/>
                    <a:pt x="659921" y="693212"/>
                  </a:cubicBezTo>
                  <a:lnTo>
                    <a:pt x="112213" y="693212"/>
                  </a:lnTo>
                  <a:cubicBezTo>
                    <a:pt x="50239" y="693212"/>
                    <a:pt x="0" y="642973"/>
                    <a:pt x="0" y="580999"/>
                  </a:cubicBezTo>
                  <a:lnTo>
                    <a:pt x="0" y="112213"/>
                  </a:lnTo>
                  <a:cubicBezTo>
                    <a:pt x="0" y="50239"/>
                    <a:pt x="50239" y="0"/>
                    <a:pt x="112213" y="0"/>
                  </a:cubicBezTo>
                  <a:close/>
                </a:path>
              </a:pathLst>
            </a:custGeom>
            <a:ln w="38100" cap="rnd">
              <a:solidFill>
                <a:srgbClr val="343734"/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772134" cy="7503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555336" y="4272414"/>
            <a:ext cx="3355472" cy="3158997"/>
            <a:chOff x="0" y="0"/>
            <a:chExt cx="736327" cy="69321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36327" cy="693212"/>
            </a:xfrm>
            <a:custGeom>
              <a:avLst/>
              <a:gdLst/>
              <a:ahLst/>
              <a:cxnLst/>
              <a:rect l="l" t="t" r="r" b="b"/>
              <a:pathLst>
                <a:path w="736327" h="693212">
                  <a:moveTo>
                    <a:pt x="117670" y="0"/>
                  </a:moveTo>
                  <a:lnTo>
                    <a:pt x="618657" y="0"/>
                  </a:lnTo>
                  <a:cubicBezTo>
                    <a:pt x="649865" y="0"/>
                    <a:pt x="679795" y="12397"/>
                    <a:pt x="701862" y="34465"/>
                  </a:cubicBezTo>
                  <a:cubicBezTo>
                    <a:pt x="723929" y="56532"/>
                    <a:pt x="736327" y="86462"/>
                    <a:pt x="736327" y="117670"/>
                  </a:cubicBezTo>
                  <a:lnTo>
                    <a:pt x="736327" y="575542"/>
                  </a:lnTo>
                  <a:cubicBezTo>
                    <a:pt x="736327" y="606750"/>
                    <a:pt x="723929" y="636680"/>
                    <a:pt x="701862" y="658747"/>
                  </a:cubicBezTo>
                  <a:cubicBezTo>
                    <a:pt x="679795" y="680815"/>
                    <a:pt x="649865" y="693212"/>
                    <a:pt x="618657" y="693212"/>
                  </a:cubicBezTo>
                  <a:lnTo>
                    <a:pt x="117670" y="693212"/>
                  </a:lnTo>
                  <a:cubicBezTo>
                    <a:pt x="86462" y="693212"/>
                    <a:pt x="56532" y="680815"/>
                    <a:pt x="34465" y="658747"/>
                  </a:cubicBezTo>
                  <a:cubicBezTo>
                    <a:pt x="12397" y="636680"/>
                    <a:pt x="0" y="606750"/>
                    <a:pt x="0" y="575542"/>
                  </a:cubicBezTo>
                  <a:lnTo>
                    <a:pt x="0" y="117670"/>
                  </a:lnTo>
                  <a:cubicBezTo>
                    <a:pt x="0" y="86462"/>
                    <a:pt x="12397" y="56532"/>
                    <a:pt x="34465" y="34465"/>
                  </a:cubicBezTo>
                  <a:cubicBezTo>
                    <a:pt x="56532" y="12397"/>
                    <a:pt x="86462" y="0"/>
                    <a:pt x="117670" y="0"/>
                  </a:cubicBezTo>
                  <a:close/>
                </a:path>
              </a:pathLst>
            </a:custGeom>
            <a:ln w="38100" cap="rnd">
              <a:solidFill>
                <a:srgbClr val="343734"/>
              </a:solidFill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736327" cy="7503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30821" y="4961457"/>
            <a:ext cx="3701843" cy="1866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86"/>
              </a:lnSpc>
              <a:spcBef>
                <a:spcPct val="0"/>
              </a:spcBef>
            </a:pPr>
            <a:r>
              <a:rPr lang="en-US" sz="2633" b="1">
                <a:solidFill>
                  <a:srgbClr val="343734"/>
                </a:solidFill>
                <a:latin typeface="Poppins Bold"/>
                <a:ea typeface="Poppins Bold"/>
                <a:cs typeface="Poppins Bold"/>
                <a:sym typeface="Poppins Bold"/>
              </a:rPr>
              <a:t>Machine learning based fund recommendation engine.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359373" y="4990261"/>
            <a:ext cx="3393709" cy="2086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42"/>
              </a:lnSpc>
              <a:spcBef>
                <a:spcPct val="0"/>
              </a:spcBef>
            </a:pPr>
            <a:r>
              <a:rPr lang="en-US" sz="2958" b="1">
                <a:solidFill>
                  <a:srgbClr val="343734"/>
                </a:solidFill>
                <a:latin typeface="Poppins Bold"/>
                <a:ea typeface="Poppins Bold"/>
                <a:cs typeface="Poppins Bold"/>
                <a:sym typeface="Poppins Bold"/>
              </a:rPr>
              <a:t>Real-time mutual fund tracking and alerts.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695933" y="4824963"/>
            <a:ext cx="2912535" cy="1801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54"/>
              </a:lnSpc>
              <a:spcBef>
                <a:spcPct val="0"/>
              </a:spcBef>
            </a:pPr>
            <a:r>
              <a:rPr lang="en-US" sz="2539" b="1">
                <a:solidFill>
                  <a:srgbClr val="343734"/>
                </a:solidFill>
                <a:latin typeface="Poppins Bold"/>
                <a:ea typeface="Poppins Bold"/>
                <a:cs typeface="Poppins Bold"/>
                <a:sym typeface="Poppins Bold"/>
              </a:rPr>
              <a:t>Portfolio optimization using AI techniques.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864805" y="4834488"/>
            <a:ext cx="2753390" cy="2120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 b="1">
                <a:solidFill>
                  <a:srgbClr val="343734"/>
                </a:solidFill>
                <a:latin typeface="Poppins Bold"/>
                <a:ea typeface="Poppins Bold"/>
                <a:cs typeface="Poppins Bold"/>
                <a:sym typeface="Poppins Bold"/>
              </a:rPr>
              <a:t>Sentiment analysis using financial news and social media.</a:t>
            </a:r>
          </a:p>
        </p:txBody>
      </p:sp>
      <p:sp>
        <p:nvSpPr>
          <p:cNvPr id="19" name="Freeform 19"/>
          <p:cNvSpPr/>
          <p:nvPr/>
        </p:nvSpPr>
        <p:spPr>
          <a:xfrm flipH="1" flipV="1">
            <a:off x="16244064" y="1028700"/>
            <a:ext cx="1015236" cy="1015236"/>
          </a:xfrm>
          <a:custGeom>
            <a:avLst/>
            <a:gdLst/>
            <a:ahLst/>
            <a:cxnLst/>
            <a:rect l="l" t="t" r="r" b="b"/>
            <a:pathLst>
              <a:path w="1015236" h="1015236">
                <a:moveTo>
                  <a:pt x="1015236" y="1015236"/>
                </a:moveTo>
                <a:lnTo>
                  <a:pt x="0" y="1015236"/>
                </a:lnTo>
                <a:lnTo>
                  <a:pt x="0" y="0"/>
                </a:lnTo>
                <a:lnTo>
                  <a:pt x="1015236" y="0"/>
                </a:lnTo>
                <a:lnTo>
                  <a:pt x="1015236" y="101523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 flipV="1">
            <a:off x="1028700" y="1028700"/>
            <a:ext cx="1015236" cy="1015236"/>
          </a:xfrm>
          <a:custGeom>
            <a:avLst/>
            <a:gdLst/>
            <a:ahLst/>
            <a:cxnLst/>
            <a:rect l="l" t="t" r="r" b="b"/>
            <a:pathLst>
              <a:path w="1015236" h="1015236">
                <a:moveTo>
                  <a:pt x="0" y="1015236"/>
                </a:moveTo>
                <a:lnTo>
                  <a:pt x="1015236" y="1015236"/>
                </a:lnTo>
                <a:lnTo>
                  <a:pt x="1015236" y="0"/>
                </a:lnTo>
                <a:lnTo>
                  <a:pt x="0" y="0"/>
                </a:lnTo>
                <a:lnTo>
                  <a:pt x="0" y="101523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-877592" y="8492289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A1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36318" y="2850845"/>
            <a:ext cx="15215364" cy="3702605"/>
            <a:chOff x="0" y="0"/>
            <a:chExt cx="4007339" cy="97517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07339" cy="975172"/>
            </a:xfrm>
            <a:custGeom>
              <a:avLst/>
              <a:gdLst/>
              <a:ahLst/>
              <a:cxnLst/>
              <a:rect l="l" t="t" r="r" b="b"/>
              <a:pathLst>
                <a:path w="4007339" h="975172">
                  <a:moveTo>
                    <a:pt x="25950" y="0"/>
                  </a:moveTo>
                  <a:lnTo>
                    <a:pt x="3981389" y="0"/>
                  </a:lnTo>
                  <a:cubicBezTo>
                    <a:pt x="3995720" y="0"/>
                    <a:pt x="4007339" y="11618"/>
                    <a:pt x="4007339" y="25950"/>
                  </a:cubicBezTo>
                  <a:lnTo>
                    <a:pt x="4007339" y="949222"/>
                  </a:lnTo>
                  <a:cubicBezTo>
                    <a:pt x="4007339" y="963554"/>
                    <a:pt x="3995720" y="975172"/>
                    <a:pt x="3981389" y="975172"/>
                  </a:cubicBezTo>
                  <a:lnTo>
                    <a:pt x="25950" y="975172"/>
                  </a:lnTo>
                  <a:cubicBezTo>
                    <a:pt x="11618" y="975172"/>
                    <a:pt x="0" y="963554"/>
                    <a:pt x="0" y="949222"/>
                  </a:cubicBezTo>
                  <a:lnTo>
                    <a:pt x="0" y="25950"/>
                  </a:lnTo>
                  <a:cubicBezTo>
                    <a:pt x="0" y="11618"/>
                    <a:pt x="11618" y="0"/>
                    <a:pt x="25950" y="0"/>
                  </a:cubicBezTo>
                  <a:close/>
                </a:path>
              </a:pathLst>
            </a:custGeom>
            <a:ln w="38100" cap="rnd">
              <a:solidFill>
                <a:srgbClr val="EFF1E8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114300"/>
              <a:ext cx="4007339" cy="1089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5179"/>
                </a:lnSpc>
              </a:pPr>
              <a:r>
                <a:rPr lang="en-US" sz="36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The Mutual Fund Analytics Platform successfully integrates data engineering, analytics, risk evaluation, and dashboard reporting into a unified solution. The project demonstrates how data-driven insights can support better investment analysis and decision-making.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763104" y="1123950"/>
            <a:ext cx="12870267" cy="1245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sz="8799" b="1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Conclusion</a:t>
            </a:r>
          </a:p>
        </p:txBody>
      </p:sp>
      <p:sp>
        <p:nvSpPr>
          <p:cNvPr id="6" name="Freeform 6"/>
          <p:cNvSpPr/>
          <p:nvPr/>
        </p:nvSpPr>
        <p:spPr>
          <a:xfrm flipH="1" flipV="1">
            <a:off x="16225014" y="1028700"/>
            <a:ext cx="1015236" cy="1015236"/>
          </a:xfrm>
          <a:custGeom>
            <a:avLst/>
            <a:gdLst/>
            <a:ahLst/>
            <a:cxnLst/>
            <a:rect l="l" t="t" r="r" b="b"/>
            <a:pathLst>
              <a:path w="1015236" h="1015236">
                <a:moveTo>
                  <a:pt x="1015236" y="1015236"/>
                </a:moveTo>
                <a:lnTo>
                  <a:pt x="0" y="1015236"/>
                </a:lnTo>
                <a:lnTo>
                  <a:pt x="0" y="0"/>
                </a:lnTo>
                <a:lnTo>
                  <a:pt x="1015236" y="0"/>
                </a:lnTo>
                <a:lnTo>
                  <a:pt x="1015236" y="101523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028700" y="1028700"/>
            <a:ext cx="1015236" cy="1015236"/>
          </a:xfrm>
          <a:custGeom>
            <a:avLst/>
            <a:gdLst/>
            <a:ahLst/>
            <a:cxnLst/>
            <a:rect l="l" t="t" r="r" b="b"/>
            <a:pathLst>
              <a:path w="1015236" h="1015236">
                <a:moveTo>
                  <a:pt x="0" y="1015236"/>
                </a:moveTo>
                <a:lnTo>
                  <a:pt x="1015236" y="1015236"/>
                </a:lnTo>
                <a:lnTo>
                  <a:pt x="1015236" y="0"/>
                </a:lnTo>
                <a:lnTo>
                  <a:pt x="0" y="0"/>
                </a:lnTo>
                <a:lnTo>
                  <a:pt x="0" y="101523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A1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059161" y="-353316"/>
            <a:ext cx="5954157" cy="11239916"/>
            <a:chOff x="0" y="0"/>
            <a:chExt cx="1568173" cy="296030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68173" cy="2960307"/>
            </a:xfrm>
            <a:custGeom>
              <a:avLst/>
              <a:gdLst/>
              <a:ahLst/>
              <a:cxnLst/>
              <a:rect l="l" t="t" r="r" b="b"/>
              <a:pathLst>
                <a:path w="1568173" h="2960307">
                  <a:moveTo>
                    <a:pt x="0" y="0"/>
                  </a:moveTo>
                  <a:lnTo>
                    <a:pt x="1568173" y="0"/>
                  </a:lnTo>
                  <a:lnTo>
                    <a:pt x="1568173" y="2960307"/>
                  </a:lnTo>
                  <a:lnTo>
                    <a:pt x="0" y="2960307"/>
                  </a:ln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568173" cy="30174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38200" y="5793667"/>
            <a:ext cx="7613364" cy="576205"/>
            <a:chOff x="0" y="0"/>
            <a:chExt cx="2005166" cy="1517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05166" cy="151758"/>
            </a:xfrm>
            <a:custGeom>
              <a:avLst/>
              <a:gdLst/>
              <a:ahLst/>
              <a:cxnLst/>
              <a:rect l="l" t="t" r="r" b="b"/>
              <a:pathLst>
                <a:path w="2005166" h="151758">
                  <a:moveTo>
                    <a:pt x="0" y="0"/>
                  </a:moveTo>
                  <a:lnTo>
                    <a:pt x="2005166" y="0"/>
                  </a:lnTo>
                  <a:lnTo>
                    <a:pt x="2005166" y="151758"/>
                  </a:lnTo>
                  <a:lnTo>
                    <a:pt x="0" y="151758"/>
                  </a:lnTo>
                  <a:close/>
                </a:path>
              </a:pathLst>
            </a:custGeom>
            <a:ln w="38100" cap="sq">
              <a:solidFill>
                <a:srgbClr val="EFF1E8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005166" cy="208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9637891" y="2754659"/>
            <a:ext cx="7621409" cy="4901354"/>
          </a:xfrm>
          <a:custGeom>
            <a:avLst/>
            <a:gdLst/>
            <a:ahLst/>
            <a:cxnLst/>
            <a:rect l="l" t="t" r="r" b="b"/>
            <a:pathLst>
              <a:path w="7621409" h="4901354">
                <a:moveTo>
                  <a:pt x="0" y="0"/>
                </a:moveTo>
                <a:lnTo>
                  <a:pt x="7621409" y="0"/>
                </a:lnTo>
                <a:lnTo>
                  <a:pt x="7621409" y="4901354"/>
                </a:lnTo>
                <a:lnTo>
                  <a:pt x="0" y="49013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028700" y="721876"/>
            <a:ext cx="10020426" cy="53884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57"/>
              </a:lnSpc>
            </a:pPr>
            <a:r>
              <a:rPr lang="en-US" sz="19864" b="1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</a:t>
            </a:r>
          </a:p>
        </p:txBody>
      </p:sp>
      <p:sp>
        <p:nvSpPr>
          <p:cNvPr id="10" name="Freeform 10"/>
          <p:cNvSpPr/>
          <p:nvPr/>
        </p:nvSpPr>
        <p:spPr>
          <a:xfrm>
            <a:off x="1028700" y="8622875"/>
            <a:ext cx="635425" cy="635425"/>
          </a:xfrm>
          <a:custGeom>
            <a:avLst/>
            <a:gdLst/>
            <a:ahLst/>
            <a:cxnLst/>
            <a:rect l="l" t="t" r="r" b="b"/>
            <a:pathLst>
              <a:path w="635425" h="635425">
                <a:moveTo>
                  <a:pt x="0" y="0"/>
                </a:moveTo>
                <a:lnTo>
                  <a:pt x="635425" y="0"/>
                </a:lnTo>
                <a:lnTo>
                  <a:pt x="635425" y="635425"/>
                </a:lnTo>
                <a:lnTo>
                  <a:pt x="0" y="6354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028700" y="5902358"/>
            <a:ext cx="6595674" cy="358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spc="345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Thank you for your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635</Words>
  <Application>Microsoft Office PowerPoint</Application>
  <PresentationFormat>Custom</PresentationFormat>
  <Paragraphs>110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Poppins Bold</vt:lpstr>
      <vt:lpstr>Canva Sans</vt:lpstr>
      <vt:lpstr>Montserrat Bold</vt:lpstr>
      <vt:lpstr>Arial</vt:lpstr>
      <vt:lpstr>Poppins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Analyst</dc:title>
  <dc:creator>kavya rupini</dc:creator>
  <cp:lastModifiedBy>kavya rupini</cp:lastModifiedBy>
  <cp:revision>4</cp:revision>
  <dcterms:created xsi:type="dcterms:W3CDTF">2006-08-16T00:00:00Z</dcterms:created>
  <dcterms:modified xsi:type="dcterms:W3CDTF">2026-06-15T16:31:25Z</dcterms:modified>
  <dc:identifier>DAHMoJ03HRU</dc:identifier>
</cp:coreProperties>
</file>